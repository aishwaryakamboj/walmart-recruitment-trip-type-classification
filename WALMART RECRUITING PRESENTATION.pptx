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51602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75811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1316323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93449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EF59EF-68B6-42EB-9167-4452025BCFC5}" type="datetimeFigureOut">
              <a:rPr lang="en-IN" smtClean="0"/>
              <a:t>24-07-2022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136924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EF59EF-68B6-42EB-9167-4452025BCFC5}" type="datetimeFigureOut">
              <a:rPr lang="en-IN" smtClean="0"/>
              <a:t>24-07-2022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4166028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EF59EF-68B6-42EB-9167-4452025BCFC5}" type="datetimeFigureOut">
              <a:rPr lang="en-IN" smtClean="0"/>
              <a:t>24-07-2022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96877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59393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748197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142688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033258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1854436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023603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EF59EF-68B6-42EB-9167-4452025BCFC5}" type="datetimeFigureOut">
              <a:rPr lang="en-IN" smtClean="0"/>
              <a:t>24-07-2022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584922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EF59EF-68B6-42EB-9167-4452025BCFC5}" type="datetimeFigureOut">
              <a:rPr lang="en-IN" smtClean="0"/>
              <a:t>24-07-2022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967665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469843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272231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EF59EF-68B6-42EB-9167-4452025BCFC5}" type="datetimeFigureOut">
              <a:rPr lang="en-IN" smtClean="0"/>
              <a:t>24-07-2022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5D661C7-0789-4AB0-A2D9-37A93279D062}" type="slidenum">
              <a:rPr lang="en-IN" smtClean="0"/>
              <a:t>‹#›</a:t>
            </a:fld>
            <a:endParaRPr lang="en-IN"/>
          </a:p>
        </p:txBody>
      </p:sp>
    </p:spTree>
    <p:extLst>
      <p:ext uri="{BB962C8B-B14F-4D97-AF65-F5344CB8AC3E}">
        <p14:creationId xmlns:p14="http://schemas.microsoft.com/office/powerpoint/2010/main" val="17238727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colab.research.google.com/drive/1NM00FkpR4FusbqouZ9iWzwYGtj55MInp?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Pen placed on top of a signature line">
            <a:extLst>
              <a:ext uri="{FF2B5EF4-FFF2-40B4-BE49-F238E27FC236}">
                <a16:creationId xmlns:a16="http://schemas.microsoft.com/office/drawing/2014/main" id="{04015241-4E50-45D8-A8A3-4ABD199EB285}"/>
              </a:ext>
            </a:extLst>
          </p:cNvPr>
          <p:cNvPicPr>
            <a:picLocks noChangeAspect="1"/>
          </p:cNvPicPr>
          <p:nvPr/>
        </p:nvPicPr>
        <p:blipFill rotWithShape="1">
          <a:blip r:embed="rId2">
            <a:alphaModFix amt="40000"/>
          </a:blip>
          <a:srcRect b="15730"/>
          <a:stretch/>
        </p:blipFill>
        <p:spPr>
          <a:xfrm>
            <a:off x="20" y="28146"/>
            <a:ext cx="12191980" cy="6857990"/>
          </a:xfrm>
          <a:prstGeom prst="rect">
            <a:avLst/>
          </a:prstGeom>
        </p:spPr>
      </p:pic>
      <p:sp>
        <p:nvSpPr>
          <p:cNvPr id="2" name="Title 1">
            <a:extLst>
              <a:ext uri="{FF2B5EF4-FFF2-40B4-BE49-F238E27FC236}">
                <a16:creationId xmlns:a16="http://schemas.microsoft.com/office/drawing/2014/main" id="{B41B33AE-B8AE-4655-8294-F9D6F10386D6}"/>
              </a:ext>
            </a:extLst>
          </p:cNvPr>
          <p:cNvSpPr>
            <a:spLocks noGrp="1"/>
          </p:cNvSpPr>
          <p:nvPr>
            <p:ph type="title"/>
          </p:nvPr>
        </p:nvSpPr>
        <p:spPr>
          <a:xfrm>
            <a:off x="1154954" y="973668"/>
            <a:ext cx="8761413" cy="706964"/>
          </a:xfrm>
        </p:spPr>
        <p:txBody>
          <a:bodyPr>
            <a:normAutofit/>
          </a:bodyPr>
          <a:lstStyle/>
          <a:p>
            <a:pPr>
              <a:lnSpc>
                <a:spcPct val="90000"/>
              </a:lnSpc>
            </a:pPr>
            <a:r>
              <a:rPr lang="en-IN" sz="2000">
                <a:solidFill>
                  <a:schemeClr val="tx1"/>
                </a:solidFill>
                <a:latin typeface="Times New Roman" panose="02020603050405020304" pitchFamily="18" charset="0"/>
                <a:cs typeface="Times New Roman" panose="02020603050405020304" pitchFamily="18" charset="0"/>
              </a:rPr>
              <a:t>WALMART RECRUITING :</a:t>
            </a:r>
            <a:br>
              <a:rPr lang="en-IN" sz="2000">
                <a:solidFill>
                  <a:schemeClr val="tx1"/>
                </a:solidFill>
                <a:latin typeface="Times New Roman" panose="02020603050405020304" pitchFamily="18" charset="0"/>
                <a:cs typeface="Times New Roman" panose="02020603050405020304" pitchFamily="18" charset="0"/>
              </a:rPr>
            </a:br>
            <a:r>
              <a:rPr lang="en-IN" sz="2000">
                <a:solidFill>
                  <a:schemeClr val="tx1"/>
                </a:solidFill>
                <a:latin typeface="Times New Roman" panose="02020603050405020304" pitchFamily="18" charset="0"/>
                <a:cs typeface="Times New Roman" panose="02020603050405020304" pitchFamily="18" charset="0"/>
              </a:rPr>
              <a:t>TRIP TYPE CLASSIFICATION</a:t>
            </a:r>
          </a:p>
        </p:txBody>
      </p:sp>
      <p:sp>
        <p:nvSpPr>
          <p:cNvPr id="3" name="Subtitle 2">
            <a:extLst>
              <a:ext uri="{FF2B5EF4-FFF2-40B4-BE49-F238E27FC236}">
                <a16:creationId xmlns:a16="http://schemas.microsoft.com/office/drawing/2014/main" id="{34B20E72-CB87-4983-9318-DB41F8C5A29B}"/>
              </a:ext>
            </a:extLst>
          </p:cNvPr>
          <p:cNvSpPr>
            <a:spLocks noGrp="1"/>
          </p:cNvSpPr>
          <p:nvPr>
            <p:ph idx="1"/>
          </p:nvPr>
        </p:nvSpPr>
        <p:spPr>
          <a:xfrm>
            <a:off x="1154954" y="2603500"/>
            <a:ext cx="8825659" cy="3416300"/>
          </a:xfrm>
        </p:spPr>
        <p:txBody>
          <a:bodyPr>
            <a:normAutofit/>
          </a:bodyPr>
          <a:lstStyle/>
          <a:p>
            <a:endParaRPr lang="en-IN" dirty="0">
              <a:solidFill>
                <a:schemeClr val="tx1"/>
              </a:solidFill>
            </a:endParaRPr>
          </a:p>
          <a:p>
            <a:endParaRPr lang="en-IN" dirty="0">
              <a:solidFill>
                <a:schemeClr val="tx1"/>
              </a:solidFill>
            </a:endParaRPr>
          </a:p>
          <a:p>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MADE BY – AISHWARYS KAMBOJ</a:t>
            </a:r>
          </a:p>
          <a:p>
            <a:r>
              <a:rPr lang="en-IN" dirty="0">
                <a:solidFill>
                  <a:schemeClr val="tx1"/>
                </a:solidFill>
                <a:latin typeface="Times New Roman" panose="02020603050405020304" pitchFamily="18" charset="0"/>
                <a:cs typeface="Times New Roman" panose="02020603050405020304" pitchFamily="18" charset="0"/>
              </a:rPr>
              <a:t>UNIV ROLL NO. - 2017451</a:t>
            </a:r>
          </a:p>
        </p:txBody>
      </p:sp>
    </p:spTree>
    <p:extLst>
      <p:ext uri="{BB962C8B-B14F-4D97-AF65-F5344CB8AC3E}">
        <p14:creationId xmlns:p14="http://schemas.microsoft.com/office/powerpoint/2010/main" val="35242600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loorplan on a table">
            <a:extLst>
              <a:ext uri="{FF2B5EF4-FFF2-40B4-BE49-F238E27FC236}">
                <a16:creationId xmlns:a16="http://schemas.microsoft.com/office/drawing/2014/main" id="{4292D2FC-69D7-4D3E-9407-125C960CEE2E}"/>
              </a:ext>
            </a:extLst>
          </p:cNvPr>
          <p:cNvPicPr>
            <a:picLocks noChangeAspect="1"/>
          </p:cNvPicPr>
          <p:nvPr/>
        </p:nvPicPr>
        <p:blipFill rotWithShape="1">
          <a:blip r:embed="rId2">
            <a:alphaModFix amt="40000"/>
          </a:blip>
          <a:srcRect t="7478" b="12735"/>
          <a:stretch/>
        </p:blipFill>
        <p:spPr>
          <a:xfrm>
            <a:off x="20" y="10"/>
            <a:ext cx="12191980" cy="6857990"/>
          </a:xfrm>
          <a:prstGeom prst="rect">
            <a:avLst/>
          </a:prstGeom>
        </p:spPr>
      </p:pic>
      <p:sp>
        <p:nvSpPr>
          <p:cNvPr id="2" name="Title 1">
            <a:extLst>
              <a:ext uri="{FF2B5EF4-FFF2-40B4-BE49-F238E27FC236}">
                <a16:creationId xmlns:a16="http://schemas.microsoft.com/office/drawing/2014/main" id="{44132547-06F6-4750-A1BD-197225239061}"/>
              </a:ext>
            </a:extLst>
          </p:cNvPr>
          <p:cNvSpPr>
            <a:spLocks noGrp="1"/>
          </p:cNvSpPr>
          <p:nvPr>
            <p:ph type="title"/>
          </p:nvPr>
        </p:nvSpPr>
        <p:spPr>
          <a:xfrm>
            <a:off x="1154954" y="973668"/>
            <a:ext cx="8761413" cy="706964"/>
          </a:xfrm>
        </p:spPr>
        <p:txBody>
          <a:bodyPr>
            <a:normAutofit/>
          </a:bodyPr>
          <a:lstStyle/>
          <a:p>
            <a:r>
              <a:rPr lang="en-US">
                <a:solidFill>
                  <a:schemeClr val="tx1"/>
                </a:solidFill>
                <a:latin typeface="Times New Roman" panose="02020603050405020304" pitchFamily="18" charset="0"/>
                <a:cs typeface="Times New Roman" panose="02020603050405020304" pitchFamily="18" charset="0"/>
              </a:rPr>
              <a:t>S</a:t>
            </a:r>
            <a:r>
              <a:rPr lang="en-IN">
                <a:solidFill>
                  <a:schemeClr val="tx1"/>
                </a:solidFill>
                <a:latin typeface="Times New Roman" panose="02020603050405020304" pitchFamily="18" charset="0"/>
                <a:cs typeface="Times New Roman" panose="02020603050405020304" pitchFamily="18" charset="0"/>
              </a:rPr>
              <a:t>HOW DIAGRAM</a:t>
            </a:r>
          </a:p>
        </p:txBody>
      </p:sp>
      <p:sp>
        <p:nvSpPr>
          <p:cNvPr id="3" name="Content Placeholder 2">
            <a:extLst>
              <a:ext uri="{FF2B5EF4-FFF2-40B4-BE49-F238E27FC236}">
                <a16:creationId xmlns:a16="http://schemas.microsoft.com/office/drawing/2014/main" id="{7185FC96-0C0E-4E89-8505-5BF72430BA69}"/>
              </a:ext>
            </a:extLst>
          </p:cNvPr>
          <p:cNvSpPr>
            <a:spLocks noGrp="1"/>
          </p:cNvSpPr>
          <p:nvPr>
            <p:ph idx="1"/>
          </p:nvPr>
        </p:nvSpPr>
        <p:spPr>
          <a:xfrm>
            <a:off x="1154954" y="2603500"/>
            <a:ext cx="8825659" cy="3416300"/>
          </a:xfrm>
        </p:spPr>
        <p:txBody>
          <a:bodyPr>
            <a:normAutofit/>
          </a:bodyPr>
          <a:lstStyle/>
          <a:p>
            <a:r>
              <a:rPr lang="en-IN">
                <a:solidFill>
                  <a:schemeClr val="tx1"/>
                </a:solidFill>
              </a:rPr>
              <a:t> </a:t>
            </a:r>
            <a:r>
              <a:rPr lang="en-IN">
                <a:solidFill>
                  <a:schemeClr val="tx1"/>
                </a:solidFill>
                <a:latin typeface="Times New Roman" panose="02020603050405020304" pitchFamily="18" charset="0"/>
                <a:cs typeface="Times New Roman" panose="02020603050405020304" pitchFamily="18" charset="0"/>
              </a:rPr>
              <a:t>INTRODUCTION</a:t>
            </a:r>
          </a:p>
          <a:p>
            <a:r>
              <a:rPr lang="en-IN">
                <a:solidFill>
                  <a:schemeClr val="tx1"/>
                </a:solidFill>
                <a:latin typeface="Times New Roman" panose="02020603050405020304" pitchFamily="18" charset="0"/>
                <a:cs typeface="Times New Roman" panose="02020603050405020304" pitchFamily="18" charset="0"/>
              </a:rPr>
              <a:t>STATEMENT PROBLEM</a:t>
            </a:r>
          </a:p>
          <a:p>
            <a:r>
              <a:rPr lang="en-IN">
                <a:solidFill>
                  <a:schemeClr val="tx1"/>
                </a:solidFill>
                <a:latin typeface="Times New Roman" panose="02020603050405020304" pitchFamily="18" charset="0"/>
                <a:cs typeface="Times New Roman" panose="02020603050405020304" pitchFamily="18" charset="0"/>
              </a:rPr>
              <a:t>TOOLS AND SOFTWARE USED</a:t>
            </a:r>
          </a:p>
          <a:p>
            <a:r>
              <a:rPr lang="en-IN">
                <a:solidFill>
                  <a:schemeClr val="tx1"/>
                </a:solidFill>
                <a:latin typeface="Times New Roman" panose="02020603050405020304" pitchFamily="18" charset="0"/>
                <a:cs typeface="Times New Roman" panose="02020603050405020304" pitchFamily="18" charset="0"/>
              </a:rPr>
              <a:t>METHODOLOGY</a:t>
            </a:r>
          </a:p>
          <a:p>
            <a:r>
              <a:rPr lang="en-IN">
                <a:solidFill>
                  <a:schemeClr val="tx1"/>
                </a:solidFill>
                <a:latin typeface="Times New Roman" panose="02020603050405020304" pitchFamily="18" charset="0"/>
                <a:cs typeface="Times New Roman" panose="02020603050405020304" pitchFamily="18" charset="0"/>
              </a:rPr>
              <a:t>DIFFICULTIES FACED</a:t>
            </a:r>
          </a:p>
          <a:p>
            <a:r>
              <a:rPr lang="en-IN">
                <a:solidFill>
                  <a:schemeClr val="tx1"/>
                </a:solidFill>
                <a:latin typeface="Times New Roman" panose="02020603050405020304" pitchFamily="18" charset="0"/>
                <a:cs typeface="Times New Roman" panose="02020603050405020304" pitchFamily="18" charset="0"/>
              </a:rPr>
              <a:t>FURTHER IMPROVEMENT</a:t>
            </a:r>
          </a:p>
          <a:p>
            <a:r>
              <a:rPr lang="en-IN">
                <a:solidFill>
                  <a:schemeClr val="tx1"/>
                </a:solidFill>
                <a:latin typeface="Times New Roman" panose="02020603050405020304" pitchFamily="18" charset="0"/>
                <a:cs typeface="Times New Roman" panose="02020603050405020304" pitchFamily="18" charset="0"/>
              </a:rPr>
              <a:t>LIMITATIONS</a:t>
            </a:r>
          </a:p>
          <a:p>
            <a:r>
              <a:rPr lang="en-IN">
                <a:solidFill>
                  <a:schemeClr val="tx1"/>
                </a:solidFill>
                <a:latin typeface="Times New Roman" panose="02020603050405020304" pitchFamily="18" charset="0"/>
                <a:cs typeface="Times New Roman" panose="02020603050405020304" pitchFamily="18" charset="0"/>
              </a:rPr>
              <a:t>FUTURE PLAN</a:t>
            </a:r>
          </a:p>
          <a:p>
            <a:endParaRPr lang="en-IN">
              <a:solidFill>
                <a:schemeClr val="tx1"/>
              </a:solidFill>
            </a:endParaRPr>
          </a:p>
          <a:p>
            <a:endParaRPr lang="en-IN">
              <a:solidFill>
                <a:schemeClr val="tx1"/>
              </a:solidFill>
            </a:endParaRPr>
          </a:p>
        </p:txBody>
      </p:sp>
    </p:spTree>
    <p:extLst>
      <p:ext uri="{BB962C8B-B14F-4D97-AF65-F5344CB8AC3E}">
        <p14:creationId xmlns:p14="http://schemas.microsoft.com/office/powerpoint/2010/main" val="402048776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50B016D-9349-428D-BEB0-CD8FA4413C7C}"/>
              </a:ext>
            </a:extLst>
          </p:cNvPr>
          <p:cNvPicPr>
            <a:picLocks noChangeAspect="1"/>
          </p:cNvPicPr>
          <p:nvPr/>
        </p:nvPicPr>
        <p:blipFill rotWithShape="1">
          <a:blip r:embed="rId2">
            <a:alphaModFix amt="40000"/>
            <a:extLst>
              <a:ext uri="{28A0092B-C50C-407E-A947-70E740481C1C}">
                <a14:useLocalDpi xmlns:a14="http://schemas.microsoft.com/office/drawing/2010/main" val="0"/>
              </a:ext>
            </a:extLst>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3AF56853-49A1-4FC2-A382-1B17F7B12E60}"/>
              </a:ext>
            </a:extLst>
          </p:cNvPr>
          <p:cNvSpPr>
            <a:spLocks noGrp="1"/>
          </p:cNvSpPr>
          <p:nvPr>
            <p:ph type="title"/>
          </p:nvPr>
        </p:nvSpPr>
        <p:spPr>
          <a:xfrm>
            <a:off x="1154954" y="973668"/>
            <a:ext cx="8761413" cy="706964"/>
          </a:xfrm>
        </p:spPr>
        <p:txBody>
          <a:bodyPr>
            <a:normAutofit/>
          </a:bodyPr>
          <a:lstStyle/>
          <a:p>
            <a:r>
              <a:rPr lang="en-IN">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C78AACD-E782-4AE0-80A7-B07799AC7ED1}"/>
              </a:ext>
            </a:extLst>
          </p:cNvPr>
          <p:cNvSpPr>
            <a:spLocks noGrp="1"/>
          </p:cNvSpPr>
          <p:nvPr>
            <p:ph idx="1"/>
          </p:nvPr>
        </p:nvSpPr>
        <p:spPr>
          <a:xfrm>
            <a:off x="1154954" y="2603500"/>
            <a:ext cx="8825659" cy="3416300"/>
          </a:xfrm>
        </p:spPr>
        <p:txBody>
          <a:bodyPr>
            <a:normAutofit/>
          </a:bodyPr>
          <a:lstStyle/>
          <a:p>
            <a:pPr>
              <a:lnSpc>
                <a:spcPct val="90000"/>
              </a:lnSpc>
              <a:spcAft>
                <a:spcPts val="800"/>
              </a:spcAft>
            </a:pPr>
            <a:r>
              <a:rPr lang="en-US" sz="15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Walmart is an American worldwide organization that works a chain of hypermarkets, markdown retail chains and supermarkets from the United States.</a:t>
            </a:r>
          </a:p>
          <a:p>
            <a:pPr>
              <a:lnSpc>
                <a:spcPct val="90000"/>
              </a:lnSpc>
              <a:spcAft>
                <a:spcPts val="800"/>
              </a:spcAft>
            </a:pPr>
            <a:r>
              <a:rPr lang="en-US" sz="15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Confronted with the opposition from web based business stages, customary retailing undertakings have presented state of the art innovations like Machine Learning, the Internet of Things, and Artificial Intelligence to enhance disconnected situations. Walmart is at the wilderness and is as of now adopting benefits of strategies, including social methodologies, psychographic approaches, segment draws near, and geographic methodologies in target market choice and market division.</a:t>
            </a:r>
          </a:p>
          <a:p>
            <a:pPr>
              <a:lnSpc>
                <a:spcPct val="90000"/>
              </a:lnSpc>
            </a:pPr>
            <a:r>
              <a:rPr lang="en-US" sz="1500" dirty="0">
                <a:solidFill>
                  <a:schemeClr val="tx1"/>
                </a:solidFill>
                <a:latin typeface="Times New Roman" panose="02020603050405020304" pitchFamily="18" charset="0"/>
                <a:cs typeface="Times New Roman" panose="02020603050405020304" pitchFamily="18" charset="0"/>
              </a:rPr>
              <a:t>The reason for this venture is to assist Walmart with bettering section clients to customize the help and publicizing. In light of the things bought by clients, Walmart has arranged stumbles into 38 kinds and anticipates that information specialists and aficionados should reproduce the grouping with less highlights. We are eager to stand up to the test.</a:t>
            </a:r>
            <a:endParaRPr lang="en-IN" sz="15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958273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FB3EF4D6-026A-4D52-B916-967329EE3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5">
            <a:extLst>
              <a:ext uri="{FF2B5EF4-FFF2-40B4-BE49-F238E27FC236}">
                <a16:creationId xmlns:a16="http://schemas.microsoft.com/office/drawing/2014/main" id="{4DB4846F-6AA5-4DB3-9581-D95F22BD5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sp>
        <p:nvSpPr>
          <p:cNvPr id="20" name="Freeform: Shape 11">
            <a:extLst>
              <a:ext uri="{FF2B5EF4-FFF2-40B4-BE49-F238E27FC236}">
                <a16:creationId xmlns:a16="http://schemas.microsoft.com/office/drawing/2014/main" id="{D54EC22E-2292-4292-A80B-E81DF64BF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80041"/>
            <a:ext cx="12192000" cy="5077959"/>
          </a:xfrm>
          <a:custGeom>
            <a:avLst/>
            <a:gdLst>
              <a:gd name="connsiteX0" fmla="*/ 12192000 w 12192000"/>
              <a:gd name="connsiteY0" fmla="*/ 0 h 5077959"/>
              <a:gd name="connsiteX1" fmla="*/ 12192000 w 12192000"/>
              <a:gd name="connsiteY1" fmla="*/ 1972152 h 5077959"/>
              <a:gd name="connsiteX2" fmla="*/ 12192000 w 12192000"/>
              <a:gd name="connsiteY2" fmla="*/ 2361342 h 5077959"/>
              <a:gd name="connsiteX3" fmla="*/ 12192000 w 12192000"/>
              <a:gd name="connsiteY3" fmla="*/ 5077959 h 5077959"/>
              <a:gd name="connsiteX4" fmla="*/ 0 w 12192000"/>
              <a:gd name="connsiteY4" fmla="*/ 5077959 h 5077959"/>
              <a:gd name="connsiteX5" fmla="*/ 0 w 12192000"/>
              <a:gd name="connsiteY5" fmla="*/ 2361342 h 5077959"/>
              <a:gd name="connsiteX6" fmla="*/ 0 w 12192000"/>
              <a:gd name="connsiteY6" fmla="*/ 1972152 h 5077959"/>
              <a:gd name="connsiteX7" fmla="*/ 0 w 12192000"/>
              <a:gd name="connsiteY7" fmla="*/ 12515 h 5077959"/>
              <a:gd name="connsiteX8" fmla="*/ 108623 w 12192000"/>
              <a:gd name="connsiteY8" fmla="*/ 29540 h 5077959"/>
              <a:gd name="connsiteX9" fmla="*/ 300195 w 12192000"/>
              <a:gd name="connsiteY9" fmla="*/ 56163 h 5077959"/>
              <a:gd name="connsiteX10" fmla="*/ 527528 w 12192000"/>
              <a:gd name="connsiteY10" fmla="*/ 88041 h 5077959"/>
              <a:gd name="connsiteX11" fmla="*/ 779127 w 12192000"/>
              <a:gd name="connsiteY11" fmla="*/ 121671 h 5077959"/>
              <a:gd name="connsiteX12" fmla="*/ 1062654 w 12192000"/>
              <a:gd name="connsiteY12" fmla="*/ 157052 h 5077959"/>
              <a:gd name="connsiteX13" fmla="*/ 1371726 w 12192000"/>
              <a:gd name="connsiteY13" fmla="*/ 194535 h 5077959"/>
              <a:gd name="connsiteX14" fmla="*/ 1707616 w 12192000"/>
              <a:gd name="connsiteY14" fmla="*/ 232018 h 5077959"/>
              <a:gd name="connsiteX15" fmla="*/ 2065219 w 12192000"/>
              <a:gd name="connsiteY15" fmla="*/ 270201 h 5077959"/>
              <a:gd name="connsiteX16" fmla="*/ 2450918 w 12192000"/>
              <a:gd name="connsiteY16" fmla="*/ 305583 h 5077959"/>
              <a:gd name="connsiteX17" fmla="*/ 2854496 w 12192000"/>
              <a:gd name="connsiteY17" fmla="*/ 339562 h 5077959"/>
              <a:gd name="connsiteX18" fmla="*/ 3281065 w 12192000"/>
              <a:gd name="connsiteY18" fmla="*/ 370390 h 5077959"/>
              <a:gd name="connsiteX19" fmla="*/ 3725514 w 12192000"/>
              <a:gd name="connsiteY19" fmla="*/ 399815 h 5077959"/>
              <a:gd name="connsiteX20" fmla="*/ 4189119 w 12192000"/>
              <a:gd name="connsiteY20" fmla="*/ 427490 h 5077959"/>
              <a:gd name="connsiteX21" fmla="*/ 4426671 w 12192000"/>
              <a:gd name="connsiteY21" fmla="*/ 437298 h 5077959"/>
              <a:gd name="connsiteX22" fmla="*/ 4669330 w 12192000"/>
              <a:gd name="connsiteY22" fmla="*/ 448158 h 5077959"/>
              <a:gd name="connsiteX23" fmla="*/ 4915819 w 12192000"/>
              <a:gd name="connsiteY23" fmla="*/ 458317 h 5077959"/>
              <a:gd name="connsiteX24" fmla="*/ 5163586 w 12192000"/>
              <a:gd name="connsiteY24" fmla="*/ 464973 h 5077959"/>
              <a:gd name="connsiteX25" fmla="*/ 5416461 w 12192000"/>
              <a:gd name="connsiteY25" fmla="*/ 470928 h 5077959"/>
              <a:gd name="connsiteX26" fmla="*/ 5671892 w 12192000"/>
              <a:gd name="connsiteY26" fmla="*/ 477234 h 5077959"/>
              <a:gd name="connsiteX27" fmla="*/ 5932430 w 12192000"/>
              <a:gd name="connsiteY27" fmla="*/ 481437 h 5077959"/>
              <a:gd name="connsiteX28" fmla="*/ 6195523 w 12192000"/>
              <a:gd name="connsiteY28" fmla="*/ 481437 h 5077959"/>
              <a:gd name="connsiteX29" fmla="*/ 6461170 w 12192000"/>
              <a:gd name="connsiteY29" fmla="*/ 483539 h 5077959"/>
              <a:gd name="connsiteX30" fmla="*/ 6729372 w 12192000"/>
              <a:gd name="connsiteY30" fmla="*/ 481437 h 5077959"/>
              <a:gd name="connsiteX31" fmla="*/ 7001406 w 12192000"/>
              <a:gd name="connsiteY31" fmla="*/ 477234 h 5077959"/>
              <a:gd name="connsiteX32" fmla="*/ 7273439 w 12192000"/>
              <a:gd name="connsiteY32" fmla="*/ 473380 h 5077959"/>
              <a:gd name="connsiteX33" fmla="*/ 7549303 w 12192000"/>
              <a:gd name="connsiteY33" fmla="*/ 464973 h 5077959"/>
              <a:gd name="connsiteX34" fmla="*/ 7827722 w 12192000"/>
              <a:gd name="connsiteY34" fmla="*/ 456215 h 5077959"/>
              <a:gd name="connsiteX35" fmla="*/ 8106140 w 12192000"/>
              <a:gd name="connsiteY35" fmla="*/ 446056 h 5077959"/>
              <a:gd name="connsiteX36" fmla="*/ 8387114 w 12192000"/>
              <a:gd name="connsiteY36" fmla="*/ 431694 h 5077959"/>
              <a:gd name="connsiteX37" fmla="*/ 8670640 w 12192000"/>
              <a:gd name="connsiteY37" fmla="*/ 414528 h 5077959"/>
              <a:gd name="connsiteX38" fmla="*/ 8955446 w 12192000"/>
              <a:gd name="connsiteY38" fmla="*/ 398064 h 5077959"/>
              <a:gd name="connsiteX39" fmla="*/ 9240250 w 12192000"/>
              <a:gd name="connsiteY39" fmla="*/ 377045 h 5077959"/>
              <a:gd name="connsiteX40" fmla="*/ 9528886 w 12192000"/>
              <a:gd name="connsiteY40" fmla="*/ 351823 h 5077959"/>
              <a:gd name="connsiteX41" fmla="*/ 9813691 w 12192000"/>
              <a:gd name="connsiteY41" fmla="*/ 326601 h 5077959"/>
              <a:gd name="connsiteX42" fmla="*/ 10103603 w 12192000"/>
              <a:gd name="connsiteY42" fmla="*/ 297525 h 5077959"/>
              <a:gd name="connsiteX43" fmla="*/ 10394794 w 12192000"/>
              <a:gd name="connsiteY43" fmla="*/ 265647 h 5077959"/>
              <a:gd name="connsiteX44" fmla="*/ 10682153 w 12192000"/>
              <a:gd name="connsiteY44" fmla="*/ 232018 h 5077959"/>
              <a:gd name="connsiteX45" fmla="*/ 10973344 w 12192000"/>
              <a:gd name="connsiteY45" fmla="*/ 192783 h 5077959"/>
              <a:gd name="connsiteX46" fmla="*/ 11263257 w 12192000"/>
              <a:gd name="connsiteY46" fmla="*/ 150746 h 5077959"/>
              <a:gd name="connsiteX47" fmla="*/ 11554448 w 12192000"/>
              <a:gd name="connsiteY47" fmla="*/ 109060 h 5077959"/>
              <a:gd name="connsiteX48" fmla="*/ 11844360 w 12192000"/>
              <a:gd name="connsiteY48" fmla="*/ 60367 h 5077959"/>
              <a:gd name="connsiteX49" fmla="*/ 12132996 w 12192000"/>
              <a:gd name="connsiteY49" fmla="*/ 10623 h 5077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192000" h="5077959">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grpSp>
        <p:nvGrpSpPr>
          <p:cNvPr id="21" name="Group 13">
            <a:extLst>
              <a:ext uri="{FF2B5EF4-FFF2-40B4-BE49-F238E27FC236}">
                <a16:creationId xmlns:a16="http://schemas.microsoft.com/office/drawing/2014/main" id="{992A2039-50D4-4D49-A79F-C82A1D9131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5" name="Rectangle 14">
              <a:extLst>
                <a:ext uri="{FF2B5EF4-FFF2-40B4-BE49-F238E27FC236}">
                  <a16:creationId xmlns:a16="http://schemas.microsoft.com/office/drawing/2014/main" id="{CC1C7165-8A3A-44EB-88D0-4EFA36A004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6" name="Freeform 5">
              <a:extLst>
                <a:ext uri="{FF2B5EF4-FFF2-40B4-BE49-F238E27FC236}">
                  <a16:creationId xmlns:a16="http://schemas.microsoft.com/office/drawing/2014/main" id="{A1081473-BB93-49A4-B605-4E20537397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p>
      </p:grpSp>
      <p:sp>
        <p:nvSpPr>
          <p:cNvPr id="2" name="Title 1">
            <a:extLst>
              <a:ext uri="{FF2B5EF4-FFF2-40B4-BE49-F238E27FC236}">
                <a16:creationId xmlns:a16="http://schemas.microsoft.com/office/drawing/2014/main" id="{76C881E7-85D9-41AD-9589-95C5058F7CB4}"/>
              </a:ext>
            </a:extLst>
          </p:cNvPr>
          <p:cNvSpPr>
            <a:spLocks noGrp="1"/>
          </p:cNvSpPr>
          <p:nvPr>
            <p:ph type="title"/>
          </p:nvPr>
        </p:nvSpPr>
        <p:spPr>
          <a:xfrm>
            <a:off x="1683171" y="838200"/>
            <a:ext cx="8825659" cy="977902"/>
          </a:xfrm>
        </p:spPr>
        <p:txBody>
          <a:bodyPr>
            <a:normAutofit/>
          </a:bodyPr>
          <a:lstStyle/>
          <a:p>
            <a:pPr algn="ctr"/>
            <a:r>
              <a:rPr lang="en-IN">
                <a:solidFill>
                  <a:srgbClr val="EBEBEB"/>
                </a:solidFill>
                <a:latin typeface="Times New Roman" panose="02020603050405020304" pitchFamily="18" charset="0"/>
                <a:cs typeface="Times New Roman" panose="02020603050405020304" pitchFamily="18" charset="0"/>
              </a:rPr>
              <a:t>STATEMENT PROBLEM</a:t>
            </a:r>
          </a:p>
        </p:txBody>
      </p:sp>
      <p:sp>
        <p:nvSpPr>
          <p:cNvPr id="3" name="Content Placeholder 2">
            <a:extLst>
              <a:ext uri="{FF2B5EF4-FFF2-40B4-BE49-F238E27FC236}">
                <a16:creationId xmlns:a16="http://schemas.microsoft.com/office/drawing/2014/main" id="{F5795212-BE08-4237-8240-EC0A721AF757}"/>
              </a:ext>
            </a:extLst>
          </p:cNvPr>
          <p:cNvSpPr>
            <a:spLocks noGrp="1"/>
          </p:cNvSpPr>
          <p:nvPr>
            <p:ph idx="1"/>
          </p:nvPr>
        </p:nvSpPr>
        <p:spPr>
          <a:xfrm>
            <a:off x="1683171" y="2757942"/>
            <a:ext cx="8825659" cy="3261857"/>
          </a:xfrm>
        </p:spPr>
        <p:txBody>
          <a:bodyPr>
            <a:normAutofit/>
          </a:bodyPr>
          <a:lstStyle/>
          <a:p>
            <a:r>
              <a:rPr lang="en-US" sz="2000">
                <a:solidFill>
                  <a:srgbClr val="404040"/>
                </a:solidFill>
              </a:rPr>
              <a:t>Walmart Recruiting Trip Type Classification is an undertaking where we oversee information of pre cherished merchandise by the clients gathered by Walmart in various states and handling the information and come by the most positive result helping the client buying experience by utilizing choice tree order.</a:t>
            </a:r>
            <a:endParaRPr lang="en-IN" sz="2000">
              <a:solidFill>
                <a:srgbClr val="404040"/>
              </a:solidFill>
            </a:endParaRPr>
          </a:p>
        </p:txBody>
      </p:sp>
    </p:spTree>
    <p:extLst>
      <p:ext uri="{BB962C8B-B14F-4D97-AF65-F5344CB8AC3E}">
        <p14:creationId xmlns:p14="http://schemas.microsoft.com/office/powerpoint/2010/main" val="2962073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534D-3963-436F-B558-C5307682808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TOOLS AND SOFTWARE</a:t>
            </a:r>
          </a:p>
        </p:txBody>
      </p:sp>
      <p:sp>
        <p:nvSpPr>
          <p:cNvPr id="6" name="TextBox 5">
            <a:extLst>
              <a:ext uri="{FF2B5EF4-FFF2-40B4-BE49-F238E27FC236}">
                <a16:creationId xmlns:a16="http://schemas.microsoft.com/office/drawing/2014/main" id="{CC177E95-5E6A-495D-8DA1-BE152624906E}"/>
              </a:ext>
            </a:extLst>
          </p:cNvPr>
          <p:cNvSpPr txBox="1"/>
          <p:nvPr/>
        </p:nvSpPr>
        <p:spPr>
          <a:xfrm>
            <a:off x="914398" y="2881411"/>
            <a:ext cx="3579324"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LIBRARIES USED</a:t>
            </a:r>
          </a:p>
        </p:txBody>
      </p:sp>
      <p:sp>
        <p:nvSpPr>
          <p:cNvPr id="7" name="TextBox 6">
            <a:extLst>
              <a:ext uri="{FF2B5EF4-FFF2-40B4-BE49-F238E27FC236}">
                <a16:creationId xmlns:a16="http://schemas.microsoft.com/office/drawing/2014/main" id="{68DB7F78-33F7-45D7-B3FE-790EDCCC5B32}"/>
              </a:ext>
            </a:extLst>
          </p:cNvPr>
          <p:cNvSpPr txBox="1"/>
          <p:nvPr/>
        </p:nvSpPr>
        <p:spPr>
          <a:xfrm flipH="1">
            <a:off x="960119" y="2279285"/>
            <a:ext cx="3700916"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SOFTWARE USED- </a:t>
            </a:r>
          </a:p>
          <a:p>
            <a:r>
              <a:rPr lang="en-IN" dirty="0">
                <a:latin typeface="Times New Roman" panose="02020603050405020304" pitchFamily="18" charset="0"/>
                <a:cs typeface="Times New Roman" panose="02020603050405020304" pitchFamily="18" charset="0"/>
              </a:rPr>
              <a:t>GOOGLE COLAB</a:t>
            </a:r>
          </a:p>
        </p:txBody>
      </p:sp>
      <p:pic>
        <p:nvPicPr>
          <p:cNvPr id="12" name="Content Placeholder 11" descr="Graphical user interface, text, application&#10;&#10;Description automatically generated">
            <a:extLst>
              <a:ext uri="{FF2B5EF4-FFF2-40B4-BE49-F238E27FC236}">
                <a16:creationId xmlns:a16="http://schemas.microsoft.com/office/drawing/2014/main" id="{06AC049E-CDC1-41F5-AB2C-B8AF03376A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7067" y="2602450"/>
            <a:ext cx="6076387" cy="3416300"/>
          </a:xfrm>
        </p:spPr>
      </p:pic>
    </p:spTree>
    <p:extLst>
      <p:ext uri="{BB962C8B-B14F-4D97-AF65-F5344CB8AC3E}">
        <p14:creationId xmlns:p14="http://schemas.microsoft.com/office/powerpoint/2010/main" val="3218174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21" name="Group 20">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2" name="Rectangle 21">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sp>
      </p:grpSp>
      <p:sp>
        <p:nvSpPr>
          <p:cNvPr id="2" name="Title 1">
            <a:extLst>
              <a:ext uri="{FF2B5EF4-FFF2-40B4-BE49-F238E27FC236}">
                <a16:creationId xmlns:a16="http://schemas.microsoft.com/office/drawing/2014/main" id="{CB04723E-60B3-416A-AF6A-357FAD966E39}"/>
              </a:ext>
            </a:extLst>
          </p:cNvPr>
          <p:cNvSpPr>
            <a:spLocks noGrp="1"/>
          </p:cNvSpPr>
          <p:nvPr>
            <p:ph type="title"/>
          </p:nvPr>
        </p:nvSpPr>
        <p:spPr>
          <a:xfrm>
            <a:off x="1000372" y="1209956"/>
            <a:ext cx="3034580" cy="4438087"/>
          </a:xfrm>
        </p:spPr>
        <p:txBody>
          <a:bodyPr anchor="ctr">
            <a:normAutofit/>
          </a:bodyPr>
          <a:lstStyle/>
          <a:p>
            <a:pPr algn="r"/>
            <a:r>
              <a:rPr lang="en-IN" sz="2700" dirty="0">
                <a:solidFill>
                  <a:schemeClr val="tx1"/>
                </a:solidFill>
                <a:latin typeface="Times New Roman" panose="02020603050405020304" pitchFamily="18" charset="0"/>
                <a:cs typeface="Times New Roman" panose="02020603050405020304" pitchFamily="18" charset="0"/>
              </a:rPr>
              <a:t>METHODOLOGY</a:t>
            </a:r>
          </a:p>
        </p:txBody>
      </p:sp>
      <p:cxnSp>
        <p:nvCxnSpPr>
          <p:cNvPr id="25" name="Straight Connector 24">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705203F-447D-4D6E-B27D-00611F3CED9E}"/>
              </a:ext>
            </a:extLst>
          </p:cNvPr>
          <p:cNvSpPr>
            <a:spLocks noGrp="1"/>
          </p:cNvSpPr>
          <p:nvPr>
            <p:ph idx="1"/>
          </p:nvPr>
        </p:nvSpPr>
        <p:spPr>
          <a:xfrm>
            <a:off x="4678424" y="1059025"/>
            <a:ext cx="5302189" cy="4739950"/>
          </a:xfrm>
        </p:spPr>
        <p:txBody>
          <a:bodyPr anchor="ctr">
            <a:normAutofit/>
          </a:bodyPr>
          <a:lstStyle/>
          <a:p>
            <a:r>
              <a:rPr lang="en-IN" dirty="0">
                <a:solidFill>
                  <a:schemeClr val="tx1"/>
                </a:solidFill>
                <a:latin typeface="Times New Roman" panose="02020603050405020304" pitchFamily="18" charset="0"/>
                <a:cs typeface="Times New Roman" panose="02020603050405020304" pitchFamily="18" charset="0"/>
              </a:rPr>
              <a:t>RANDOM FOREST CLASSIFIER- </a:t>
            </a:r>
            <a:r>
              <a:rPr lang="en-US" b="0" i="0" dirty="0">
                <a:solidFill>
                  <a:schemeClr val="tx1"/>
                </a:solidFill>
                <a:effectLst/>
                <a:latin typeface="Times New Roman" panose="02020603050405020304" pitchFamily="18" charset="0"/>
                <a:cs typeface="Times New Roman" panose="02020603050405020304" pitchFamily="18" charset="0"/>
              </a:rPr>
              <a:t>A random forest is a meta estimator that fits a number of decision tree classifiers on various sub-samples of the dataset and uses averaging to improve the predictive accuracy and control over-fitting</a:t>
            </a:r>
            <a:r>
              <a:rPr lang="en-IN" b="0" i="0" dirty="0">
                <a:solidFill>
                  <a:schemeClr val="tx1"/>
                </a:solidFill>
                <a:effectLst/>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It uses multiple decision trees .</a:t>
            </a:r>
          </a:p>
          <a:p>
            <a:r>
              <a:rPr lang="en-IN" b="0" i="0" dirty="0">
                <a:solidFill>
                  <a:schemeClr val="tx1"/>
                </a:solidFill>
                <a:effectLst/>
                <a:latin typeface="Times New Roman" panose="02020603050405020304" pitchFamily="18" charset="0"/>
                <a:cs typeface="Times New Roman" panose="02020603050405020304" pitchFamily="18" charset="0"/>
              </a:rPr>
              <a:t>XGBOOST CLASSIFIER</a:t>
            </a:r>
            <a:r>
              <a:rPr lang="en-US" dirty="0">
                <a:solidFill>
                  <a:schemeClr val="tx1"/>
                </a:solidFill>
                <a:latin typeface="Times New Roman" panose="02020603050405020304" pitchFamily="18" charset="0"/>
                <a:cs typeface="Times New Roman" panose="02020603050405020304" pitchFamily="18" charset="0"/>
              </a:rPr>
              <a:t>- </a:t>
            </a:r>
            <a:r>
              <a:rPr lang="en-US" b="0" i="0" dirty="0" err="1">
                <a:solidFill>
                  <a:schemeClr val="tx1"/>
                </a:solidFill>
                <a:effectLst/>
                <a:latin typeface="Times New Roman" panose="02020603050405020304" pitchFamily="18" charset="0"/>
                <a:cs typeface="Times New Roman" panose="02020603050405020304" pitchFamily="18" charset="0"/>
              </a:rPr>
              <a:t>XGBoost</a:t>
            </a:r>
            <a:r>
              <a:rPr lang="en-US" b="0" i="0" dirty="0">
                <a:solidFill>
                  <a:schemeClr val="tx1"/>
                </a:solidFill>
                <a:effectLst/>
                <a:latin typeface="Times New Roman" panose="02020603050405020304" pitchFamily="18" charset="0"/>
                <a:cs typeface="Times New Roman" panose="02020603050405020304" pitchFamily="18" charset="0"/>
              </a:rPr>
              <a:t> is </a:t>
            </a:r>
            <a:r>
              <a:rPr lang="en-US" i="0" dirty="0">
                <a:solidFill>
                  <a:schemeClr val="tx1"/>
                </a:solidFill>
                <a:effectLst/>
                <a:latin typeface="Times New Roman" panose="02020603050405020304" pitchFamily="18" charset="0"/>
                <a:cs typeface="Times New Roman" panose="02020603050405020304" pitchFamily="18" charset="0"/>
              </a:rPr>
              <a:t>a decision-tree-based ensemble Machine Learning algorithm that uses a gradient boosting </a:t>
            </a:r>
            <a:r>
              <a:rPr lang="en-US" i="0" dirty="0" err="1">
                <a:solidFill>
                  <a:schemeClr val="tx1"/>
                </a:solidFill>
                <a:effectLst/>
                <a:latin typeface="Times New Roman" panose="02020603050405020304" pitchFamily="18" charset="0"/>
                <a:cs typeface="Times New Roman" panose="02020603050405020304" pitchFamily="18" charset="0"/>
              </a:rPr>
              <a:t>framework</a:t>
            </a:r>
            <a:r>
              <a:rPr lang="en-US" b="0" i="0" dirty="0" err="1">
                <a:solidFill>
                  <a:schemeClr val="tx1"/>
                </a:solidFill>
                <a:effectLst/>
                <a:latin typeface="Times New Roman" panose="02020603050405020304" pitchFamily="18" charset="0"/>
                <a:cs typeface="Times New Roman" panose="02020603050405020304" pitchFamily="18" charset="0"/>
              </a:rPr>
              <a:t>.The</a:t>
            </a:r>
            <a:r>
              <a:rPr lang="en-US" b="0" i="0" dirty="0">
                <a:solidFill>
                  <a:schemeClr val="tx1"/>
                </a:solidFill>
                <a:effectLst/>
                <a:latin typeface="Times New Roman" panose="02020603050405020304" pitchFamily="18" charset="0"/>
                <a:cs typeface="Times New Roman" panose="02020603050405020304" pitchFamily="18" charset="0"/>
              </a:rPr>
              <a:t> algorithm differentiates itself in the following ways: A wide range of applications: Can be used to solve regression, classification, ranking, and user-defined prediction problems.</a:t>
            </a:r>
            <a:endParaRPr lang="en-IN" b="0" i="0" dirty="0">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9231074-FADC-B2B9-6496-790CF09C144C}"/>
              </a:ext>
            </a:extLst>
          </p:cNvPr>
          <p:cNvSpPr txBox="1"/>
          <p:nvPr/>
        </p:nvSpPr>
        <p:spPr>
          <a:xfrm>
            <a:off x="614149" y="5291143"/>
            <a:ext cx="10044751" cy="1015663"/>
          </a:xfrm>
          <a:prstGeom prst="rect">
            <a:avLst/>
          </a:prstGeom>
          <a:noFill/>
        </p:spPr>
        <p:txBody>
          <a:bodyPr wrap="square" rtlCol="0">
            <a:spAutoFit/>
          </a:bodyPr>
          <a:lstStyle/>
          <a:p>
            <a:r>
              <a:rPr lang="en-IN" sz="2000" dirty="0"/>
              <a:t>LINK FOR THE CODE : </a:t>
            </a:r>
            <a:r>
              <a:rPr lang="en-IN" sz="2000" dirty="0">
                <a:hlinkClick r:id="rId2"/>
              </a:rPr>
              <a:t>https://colab.research.google.com/drive/1NM00FkpR4FusbqouZ9iWzwYGtj55MInp?usp=sharing</a:t>
            </a:r>
            <a:endParaRPr lang="en-IN" sz="2000" dirty="0"/>
          </a:p>
        </p:txBody>
      </p:sp>
    </p:spTree>
    <p:extLst>
      <p:ext uri="{BB962C8B-B14F-4D97-AF65-F5344CB8AC3E}">
        <p14:creationId xmlns:p14="http://schemas.microsoft.com/office/powerpoint/2010/main" val="625256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7436813-2678-45DF-9DA0-2D443F22011D}"/>
              </a:ext>
            </a:extLst>
          </p:cNvPr>
          <p:cNvPicPr>
            <a:picLocks noChangeAspect="1"/>
          </p:cNvPicPr>
          <p:nvPr/>
        </p:nvPicPr>
        <p:blipFill rotWithShape="1">
          <a:blip r:embed="rId2">
            <a:alphaModFix amt="40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7FE4A77-CAA6-4F45-A440-F2E482A7B0B4}"/>
              </a:ext>
            </a:extLst>
          </p:cNvPr>
          <p:cNvSpPr>
            <a:spLocks noGrp="1"/>
          </p:cNvSpPr>
          <p:nvPr>
            <p:ph type="title"/>
          </p:nvPr>
        </p:nvSpPr>
        <p:spPr>
          <a:xfrm>
            <a:off x="1154954" y="973668"/>
            <a:ext cx="8761413" cy="706964"/>
          </a:xfrm>
        </p:spPr>
        <p:txBody>
          <a:bodyPr>
            <a:normAutofit/>
          </a:bodyPr>
          <a:lstStyle/>
          <a:p>
            <a:r>
              <a:rPr lang="en-IN">
                <a:solidFill>
                  <a:schemeClr val="tx1"/>
                </a:solidFill>
                <a:latin typeface="Times New Roman" panose="02020603050405020304" pitchFamily="18" charset="0"/>
                <a:cs typeface="Times New Roman" panose="02020603050405020304" pitchFamily="18" charset="0"/>
              </a:rPr>
              <a:t>DIFFICULTIES FACED</a:t>
            </a:r>
          </a:p>
        </p:txBody>
      </p:sp>
      <p:sp>
        <p:nvSpPr>
          <p:cNvPr id="3" name="Content Placeholder 2">
            <a:extLst>
              <a:ext uri="{FF2B5EF4-FFF2-40B4-BE49-F238E27FC236}">
                <a16:creationId xmlns:a16="http://schemas.microsoft.com/office/drawing/2014/main" id="{00994063-5078-4F3F-81EB-69E948761D2E}"/>
              </a:ext>
            </a:extLst>
          </p:cNvPr>
          <p:cNvSpPr>
            <a:spLocks noGrp="1"/>
          </p:cNvSpPr>
          <p:nvPr>
            <p:ph idx="1"/>
          </p:nvPr>
        </p:nvSpPr>
        <p:spPr>
          <a:xfrm>
            <a:off x="1154954" y="2603500"/>
            <a:ext cx="8825659" cy="3416300"/>
          </a:xfrm>
        </p:spPr>
        <p:txBody>
          <a:bodyPr>
            <a:normAutofit/>
          </a:bodyPr>
          <a:lstStyle/>
          <a:p>
            <a:r>
              <a:rPr lang="en-US" b="1" i="0">
                <a:solidFill>
                  <a:schemeClr val="tx1"/>
                </a:solidFill>
                <a:effectLst/>
                <a:latin typeface="Times New Roman" panose="02020603050405020304" pitchFamily="18" charset="0"/>
                <a:cs typeface="Times New Roman" panose="02020603050405020304" pitchFamily="18" charset="0"/>
              </a:rPr>
              <a:t>Each observation represents a specific item instead of all the purchasing items on a trip</a:t>
            </a:r>
          </a:p>
          <a:p>
            <a:r>
              <a:rPr lang="en-IN" b="1" i="0">
                <a:solidFill>
                  <a:schemeClr val="tx1"/>
                </a:solidFill>
                <a:effectLst/>
                <a:latin typeface="Times New Roman" panose="02020603050405020304" pitchFamily="18" charset="0"/>
                <a:cs typeface="Times New Roman" panose="02020603050405020304" pitchFamily="18" charset="0"/>
              </a:rPr>
              <a:t>Multi-class</a:t>
            </a:r>
            <a:r>
              <a:rPr lang="en-IN" b="0" i="0">
                <a:solidFill>
                  <a:schemeClr val="tx1"/>
                </a:solidFill>
                <a:effectLst/>
                <a:latin typeface="Times New Roman" panose="02020603050405020304" pitchFamily="18" charset="0"/>
                <a:cs typeface="Times New Roman" panose="02020603050405020304" pitchFamily="18" charset="0"/>
              </a:rPr>
              <a:t> </a:t>
            </a:r>
            <a:r>
              <a:rPr lang="en-IN" b="1" i="0">
                <a:solidFill>
                  <a:schemeClr val="tx1"/>
                </a:solidFill>
                <a:effectLst/>
                <a:latin typeface="Times New Roman" panose="02020603050405020304" pitchFamily="18" charset="0"/>
                <a:cs typeface="Times New Roman" panose="02020603050405020304" pitchFamily="18" charset="0"/>
              </a:rPr>
              <a:t>Imbalance</a:t>
            </a:r>
          </a:p>
          <a:p>
            <a:r>
              <a:rPr lang="en-IN" b="1" i="0">
                <a:solidFill>
                  <a:schemeClr val="tx1"/>
                </a:solidFill>
                <a:effectLst/>
                <a:latin typeface="Times New Roman" panose="02020603050405020304" pitchFamily="18" charset="0"/>
                <a:cs typeface="Times New Roman" panose="02020603050405020304" pitchFamily="18" charset="0"/>
              </a:rPr>
              <a:t>Non-descriptive data</a:t>
            </a:r>
            <a:endParaRPr lang="en-IN">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486567"/>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ckages on conveyor belt">
            <a:extLst>
              <a:ext uri="{FF2B5EF4-FFF2-40B4-BE49-F238E27FC236}">
                <a16:creationId xmlns:a16="http://schemas.microsoft.com/office/drawing/2014/main" id="{FA1C06E6-6CD7-4514-81F4-413E9DD9877B}"/>
              </a:ext>
            </a:extLst>
          </p:cNvPr>
          <p:cNvPicPr>
            <a:picLocks noChangeAspect="1"/>
          </p:cNvPicPr>
          <p:nvPr/>
        </p:nvPicPr>
        <p:blipFill rotWithShape="1">
          <a:blip r:embed="rId2">
            <a:alphaModFix amt="40000"/>
          </a:blip>
          <a:srcRect t="7994" b="7736"/>
          <a:stretch/>
        </p:blipFill>
        <p:spPr>
          <a:xfrm>
            <a:off x="20" y="10"/>
            <a:ext cx="12191980" cy="6857990"/>
          </a:xfrm>
          <a:prstGeom prst="rect">
            <a:avLst/>
          </a:prstGeom>
        </p:spPr>
      </p:pic>
      <p:sp>
        <p:nvSpPr>
          <p:cNvPr id="2" name="Title 1">
            <a:extLst>
              <a:ext uri="{FF2B5EF4-FFF2-40B4-BE49-F238E27FC236}">
                <a16:creationId xmlns:a16="http://schemas.microsoft.com/office/drawing/2014/main" id="{28F36085-8146-442A-9D9C-F4682771C56A}"/>
              </a:ext>
            </a:extLst>
          </p:cNvPr>
          <p:cNvSpPr>
            <a:spLocks noGrp="1"/>
          </p:cNvSpPr>
          <p:nvPr>
            <p:ph type="title"/>
          </p:nvPr>
        </p:nvSpPr>
        <p:spPr>
          <a:xfrm>
            <a:off x="1154954" y="973668"/>
            <a:ext cx="8761413" cy="706964"/>
          </a:xfrm>
        </p:spPr>
        <p:txBody>
          <a:bodyPr>
            <a:normAutofit/>
          </a:bodyPr>
          <a:lstStyle/>
          <a:p>
            <a:r>
              <a:rPr lang="en-IN">
                <a:solidFill>
                  <a:schemeClr val="tx1"/>
                </a:solidFill>
                <a:latin typeface="Times New Roman" panose="02020603050405020304" pitchFamily="18" charset="0"/>
                <a:cs typeface="Times New Roman" panose="02020603050405020304" pitchFamily="18" charset="0"/>
              </a:rPr>
              <a:t>FURTHER IMPROVEMENT</a:t>
            </a:r>
          </a:p>
        </p:txBody>
      </p:sp>
      <p:sp>
        <p:nvSpPr>
          <p:cNvPr id="3" name="Content Placeholder 2">
            <a:extLst>
              <a:ext uri="{FF2B5EF4-FFF2-40B4-BE49-F238E27FC236}">
                <a16:creationId xmlns:a16="http://schemas.microsoft.com/office/drawing/2014/main" id="{262B5528-DA01-442F-A8C7-E6B3C97E1DC5}"/>
              </a:ext>
            </a:extLst>
          </p:cNvPr>
          <p:cNvSpPr>
            <a:spLocks noGrp="1"/>
          </p:cNvSpPr>
          <p:nvPr>
            <p:ph idx="1"/>
          </p:nvPr>
        </p:nvSpPr>
        <p:spPr>
          <a:xfrm>
            <a:off x="1154954" y="2603500"/>
            <a:ext cx="8825659" cy="3416300"/>
          </a:xfrm>
        </p:spPr>
        <p:txBody>
          <a:bodyPr>
            <a:normAutofit/>
          </a:bodyPr>
          <a:lstStyle/>
          <a:p>
            <a:pPr>
              <a:buAutoNum type="arabicParenBoth"/>
            </a:pPr>
            <a:r>
              <a:rPr lang="en-IN" b="1" i="0">
                <a:solidFill>
                  <a:schemeClr val="tx1"/>
                </a:solidFill>
                <a:effectLst/>
                <a:latin typeface="Times New Roman" panose="02020603050405020304" pitchFamily="18" charset="0"/>
                <a:cs typeface="Times New Roman" panose="02020603050405020304" pitchFamily="18" charset="0"/>
              </a:rPr>
              <a:t>Feature Engineering</a:t>
            </a:r>
          </a:p>
          <a:p>
            <a:pPr>
              <a:buAutoNum type="arabicParenBoth"/>
            </a:pPr>
            <a:r>
              <a:rPr lang="en-IN" b="1" i="0">
                <a:solidFill>
                  <a:schemeClr val="tx1"/>
                </a:solidFill>
                <a:effectLst/>
                <a:latin typeface="Times New Roman" panose="02020603050405020304" pitchFamily="18" charset="0"/>
                <a:cs typeface="Times New Roman" panose="02020603050405020304" pitchFamily="18" charset="0"/>
              </a:rPr>
              <a:t>(2) Collect More Data</a:t>
            </a:r>
          </a:p>
          <a:p>
            <a:pPr marL="0" indent="0">
              <a:buNone/>
            </a:pPr>
            <a:r>
              <a:rPr lang="en-US" b="0" i="0">
                <a:solidFill>
                  <a:schemeClr val="tx1"/>
                </a:solidFill>
                <a:effectLst/>
                <a:latin typeface="Times New Roman" panose="02020603050405020304" pitchFamily="18" charset="0"/>
                <a:cs typeface="Times New Roman" panose="02020603050405020304" pitchFamily="18" charset="0"/>
              </a:rPr>
              <a:t>Walmart only provides us with purchase records of customers. If more information like demographic data is provided, the models will achieve a higher accuracy.</a:t>
            </a:r>
            <a:endParaRPr lang="en-IN"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94348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14">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6">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942C16B-B109-4AC2-8C76-E1E5B42470D1}"/>
              </a:ext>
            </a:extLst>
          </p:cNvPr>
          <p:cNvSpPr>
            <a:spLocks noGrp="1"/>
          </p:cNvSpPr>
          <p:nvPr>
            <p:ph type="title"/>
          </p:nvPr>
        </p:nvSpPr>
        <p:spPr>
          <a:xfrm>
            <a:off x="561110" y="973668"/>
            <a:ext cx="4177867" cy="1391692"/>
          </a:xfrm>
        </p:spPr>
        <p:txBody>
          <a:bodyPr>
            <a:normAutofit/>
          </a:bodyPr>
          <a:lstStyle/>
          <a:p>
            <a:r>
              <a:rPr lang="en-IN">
                <a:solidFill>
                  <a:schemeClr val="tx2"/>
                </a:solidFill>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65EA9BDA-7096-4DB7-A882-F5C6B430E0AA}"/>
              </a:ext>
            </a:extLst>
          </p:cNvPr>
          <p:cNvSpPr>
            <a:spLocks noGrp="1"/>
          </p:cNvSpPr>
          <p:nvPr>
            <p:ph idx="1"/>
          </p:nvPr>
        </p:nvSpPr>
        <p:spPr>
          <a:xfrm>
            <a:off x="561110" y="2603500"/>
            <a:ext cx="4072673" cy="3416300"/>
          </a:xfrm>
        </p:spPr>
        <p:txBody>
          <a:bodyPr>
            <a:normAutofit/>
          </a:bodyPr>
          <a:lstStyle/>
          <a:p>
            <a:r>
              <a:rPr lang="en-US" b="0" i="0">
                <a:effectLst/>
                <a:latin typeface="charter"/>
              </a:rPr>
              <a:t>Walmart only provides us with purchase records of customers. If more information like demographic data is provided, the models will achieve a higher accuracy.</a:t>
            </a:r>
          </a:p>
          <a:p>
            <a:endParaRPr lang="en-IN"/>
          </a:p>
        </p:txBody>
      </p:sp>
      <p:pic>
        <p:nvPicPr>
          <p:cNvPr id="8" name="Picture 7" descr="Graphical user interface, text, application&#10;&#10;Description automatically generated">
            <a:extLst>
              <a:ext uri="{FF2B5EF4-FFF2-40B4-BE49-F238E27FC236}">
                <a16:creationId xmlns:a16="http://schemas.microsoft.com/office/drawing/2014/main" id="{82DE5768-36BD-4C25-9339-085E0232128C}"/>
              </a:ext>
            </a:extLst>
          </p:cNvPr>
          <p:cNvPicPr>
            <a:picLocks noChangeAspect="1"/>
          </p:cNvPicPr>
          <p:nvPr/>
        </p:nvPicPr>
        <p:blipFill rotWithShape="1">
          <a:blip r:embed="rId2">
            <a:extLst>
              <a:ext uri="{28A0092B-C50C-407E-A947-70E740481C1C}">
                <a14:useLocalDpi xmlns:a14="http://schemas.microsoft.com/office/drawing/2010/main" val="0"/>
              </a:ext>
            </a:extLst>
          </a:blip>
          <a:srcRect l="7907" r="29673" b="-1"/>
          <a:stretch/>
        </p:blipFill>
        <p:spPr>
          <a:xfrm>
            <a:off x="5120117"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31"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Tree>
    <p:extLst>
      <p:ext uri="{BB962C8B-B14F-4D97-AF65-F5344CB8AC3E}">
        <p14:creationId xmlns:p14="http://schemas.microsoft.com/office/powerpoint/2010/main" val="2679202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all painted with an arrow and a dartboard">
            <a:extLst>
              <a:ext uri="{FF2B5EF4-FFF2-40B4-BE49-F238E27FC236}">
                <a16:creationId xmlns:a16="http://schemas.microsoft.com/office/drawing/2014/main" id="{AB6F220C-2DDC-4352-AA1D-8AF9AAE11812}"/>
              </a:ext>
            </a:extLst>
          </p:cNvPr>
          <p:cNvPicPr>
            <a:picLocks noChangeAspect="1"/>
          </p:cNvPicPr>
          <p:nvPr/>
        </p:nvPicPr>
        <p:blipFill rotWithShape="1">
          <a:blip r:embed="rId2">
            <a:alphaModFix amt="40000"/>
          </a:blip>
          <a:srcRect t="10273" b="11055"/>
          <a:stretch/>
        </p:blipFill>
        <p:spPr>
          <a:xfrm>
            <a:off x="20" y="10"/>
            <a:ext cx="12191980" cy="6857990"/>
          </a:xfrm>
          <a:prstGeom prst="rect">
            <a:avLst/>
          </a:prstGeom>
        </p:spPr>
      </p:pic>
      <p:sp>
        <p:nvSpPr>
          <p:cNvPr id="2" name="Title 1">
            <a:extLst>
              <a:ext uri="{FF2B5EF4-FFF2-40B4-BE49-F238E27FC236}">
                <a16:creationId xmlns:a16="http://schemas.microsoft.com/office/drawing/2014/main" id="{6699109A-75D5-4C80-904C-30B9B6DCC34A}"/>
              </a:ext>
            </a:extLst>
          </p:cNvPr>
          <p:cNvSpPr>
            <a:spLocks noGrp="1"/>
          </p:cNvSpPr>
          <p:nvPr>
            <p:ph type="title"/>
          </p:nvPr>
        </p:nvSpPr>
        <p:spPr>
          <a:xfrm>
            <a:off x="1154954" y="973668"/>
            <a:ext cx="8761413" cy="706964"/>
          </a:xfrm>
        </p:spPr>
        <p:txBody>
          <a:bodyPr>
            <a:normAutofit/>
          </a:bodyPr>
          <a:lstStyle/>
          <a:p>
            <a:r>
              <a:rPr lang="en-IN">
                <a:solidFill>
                  <a:schemeClr val="tx1"/>
                </a:solidFill>
                <a:latin typeface="Times New Roman" panose="02020603050405020304" pitchFamily="18" charset="0"/>
                <a:cs typeface="Times New Roman" panose="02020603050405020304" pitchFamily="18" charset="0"/>
              </a:rPr>
              <a:t>FUTURE PLAN</a:t>
            </a:r>
          </a:p>
        </p:txBody>
      </p:sp>
      <p:sp>
        <p:nvSpPr>
          <p:cNvPr id="3" name="Content Placeholder 2">
            <a:extLst>
              <a:ext uri="{FF2B5EF4-FFF2-40B4-BE49-F238E27FC236}">
                <a16:creationId xmlns:a16="http://schemas.microsoft.com/office/drawing/2014/main" id="{FD66D1AD-B617-4F63-BFA6-FA9F4C4311A2}"/>
              </a:ext>
            </a:extLst>
          </p:cNvPr>
          <p:cNvSpPr>
            <a:spLocks noGrp="1"/>
          </p:cNvSpPr>
          <p:nvPr>
            <p:ph idx="1"/>
          </p:nvPr>
        </p:nvSpPr>
        <p:spPr>
          <a:xfrm>
            <a:off x="1154954" y="2603500"/>
            <a:ext cx="8825659" cy="3416300"/>
          </a:xfrm>
        </p:spPr>
        <p:txBody>
          <a:bodyPr>
            <a:normAutofit/>
          </a:bodyPr>
          <a:lstStyle/>
          <a:p>
            <a:r>
              <a:rPr lang="en-IN">
                <a:solidFill>
                  <a:schemeClr val="tx1"/>
                </a:solidFill>
                <a:latin typeface="Times New Roman" panose="02020603050405020304" pitchFamily="18" charset="0"/>
                <a:cs typeface="Times New Roman" panose="02020603050405020304" pitchFamily="18" charset="0"/>
              </a:rPr>
              <a:t>To reduce the log loss , so as to receive more accuracy.</a:t>
            </a:r>
          </a:p>
          <a:p>
            <a:r>
              <a:rPr lang="en-IN">
                <a:solidFill>
                  <a:schemeClr val="tx1"/>
                </a:solidFill>
                <a:latin typeface="Times New Roman" panose="02020603050405020304" pitchFamily="18" charset="0"/>
                <a:cs typeface="Times New Roman" panose="02020603050405020304" pitchFamily="18" charset="0"/>
              </a:rPr>
              <a:t>To add more graphs and charts .</a:t>
            </a:r>
          </a:p>
          <a:p>
            <a:pPr marL="0" indent="0">
              <a:buNone/>
            </a:pPr>
            <a:endParaRPr lang="en-IN">
              <a:solidFill>
                <a:schemeClr val="tx1"/>
              </a:solidFill>
            </a:endParaRPr>
          </a:p>
        </p:txBody>
      </p:sp>
    </p:spTree>
    <p:extLst>
      <p:ext uri="{BB962C8B-B14F-4D97-AF65-F5344CB8AC3E}">
        <p14:creationId xmlns:p14="http://schemas.microsoft.com/office/powerpoint/2010/main" val="1560916415"/>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1045</TotalTime>
  <Words>476</Words>
  <Application>Microsoft Office PowerPoint</Application>
  <PresentationFormat>Widescreen</PresentationFormat>
  <Paragraphs>42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Century Gothic</vt:lpstr>
      <vt:lpstr>charter</vt:lpstr>
      <vt:lpstr>Times New Roman</vt:lpstr>
      <vt:lpstr>Wingdings 3</vt:lpstr>
      <vt:lpstr>Ion Boardroom</vt:lpstr>
      <vt:lpstr>WALMART RECRUITING : TRIP TYPE CLASSIFICATION</vt:lpstr>
      <vt:lpstr>SHOW DIAGRAM</vt:lpstr>
      <vt:lpstr>INTRODUCTION</vt:lpstr>
      <vt:lpstr>STATEMENT PROBLEM</vt:lpstr>
      <vt:lpstr>TOOLS AND SOFTWARE</vt:lpstr>
      <vt:lpstr>METHODOLOGY</vt:lpstr>
      <vt:lpstr>DIFFICULTIES FACED</vt:lpstr>
      <vt:lpstr>FURTHER IMPROVEMENT</vt:lpstr>
      <vt:lpstr>LIMITATIONS</vt:lpstr>
      <vt:lpstr>FUTURE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RECRUITING : TRIP TYPE CLASSIFICATION</dc:title>
  <dc:creator>HIMANSHI RANA</dc:creator>
  <cp:lastModifiedBy>Aishwarya Kamboj</cp:lastModifiedBy>
  <cp:revision>3</cp:revision>
  <dcterms:created xsi:type="dcterms:W3CDTF">2022-02-26T06:13:13Z</dcterms:created>
  <dcterms:modified xsi:type="dcterms:W3CDTF">2022-07-24T10:40:36Z</dcterms:modified>
</cp:coreProperties>
</file>