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5" r:id="rId5"/>
    <p:sldId id="259" r:id="rId6"/>
    <p:sldId id="260" r:id="rId7"/>
    <p:sldId id="261" r:id="rId8"/>
    <p:sldId id="262" r:id="rId9"/>
    <p:sldId id="263" r:id="rId10"/>
    <p:sldId id="26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2516022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75811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1316323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EF59EF-68B6-42EB-9167-4452025BCFC5}" type="datetimeFigureOut">
              <a:rPr lang="en-IN" smtClean="0"/>
              <a:t>24-07-2022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2934492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EF59EF-68B6-42EB-9167-4452025BCFC5}" type="datetimeFigureOut">
              <a:rPr lang="en-IN" smtClean="0"/>
              <a:t>24-07-2022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1369246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EF59EF-68B6-42EB-9167-4452025BCFC5}" type="datetimeFigureOut">
              <a:rPr lang="en-IN" smtClean="0"/>
              <a:t>24-07-2022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4166028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EF59EF-68B6-42EB-9167-4452025BCFC5}" type="datetimeFigureOut">
              <a:rPr lang="en-IN" smtClean="0"/>
              <a:t>24-07-2022</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39687715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EF59EF-68B6-42EB-9167-4452025BCFC5}" type="datetimeFigureOut">
              <a:rPr lang="en-IN" smtClean="0"/>
              <a:t>24-07-2022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359393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EF59EF-68B6-42EB-9167-4452025BCFC5}" type="datetimeFigureOut">
              <a:rPr lang="en-IN" smtClean="0"/>
              <a:t>24-07-2022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2748197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CEF59EF-68B6-42EB-9167-4452025BCFC5}" type="datetimeFigureOut">
              <a:rPr lang="en-IN" smtClean="0"/>
              <a:t>24-07-2022</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3142688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2033258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18544368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20236037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EF59EF-68B6-42EB-9167-4452025BCFC5}" type="datetimeFigureOut">
              <a:rPr lang="en-IN" smtClean="0"/>
              <a:t>24-07-2022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25849220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1CEF59EF-68B6-42EB-9167-4452025BCFC5}" type="datetimeFigureOut">
              <a:rPr lang="en-IN" smtClean="0"/>
              <a:t>24-07-2022</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9676659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34698436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1CEF59EF-68B6-42EB-9167-4452025BCFC5}" type="datetimeFigureOut">
              <a:rPr lang="en-IN" smtClean="0"/>
              <a:t>24-07-2022</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5D661C7-0789-4AB0-A2D9-37A93279D062}" type="slidenum">
              <a:rPr lang="en-IN" smtClean="0"/>
              <a:t>‹#›</a:t>
            </a:fld>
            <a:endParaRPr lang="en-IN"/>
          </a:p>
        </p:txBody>
      </p:sp>
    </p:spTree>
    <p:extLst>
      <p:ext uri="{BB962C8B-B14F-4D97-AF65-F5344CB8AC3E}">
        <p14:creationId xmlns:p14="http://schemas.microsoft.com/office/powerpoint/2010/main" val="3272231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1CEF59EF-68B6-42EB-9167-4452025BCFC5}" type="datetimeFigureOut">
              <a:rPr lang="en-IN" smtClean="0"/>
              <a:t>24-07-2022</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5D661C7-0789-4AB0-A2D9-37A93279D062}" type="slidenum">
              <a:rPr lang="en-IN" smtClean="0"/>
              <a:t>‹#›</a:t>
            </a:fld>
            <a:endParaRPr lang="en-IN"/>
          </a:p>
        </p:txBody>
      </p:sp>
    </p:spTree>
    <p:extLst>
      <p:ext uri="{BB962C8B-B14F-4D97-AF65-F5344CB8AC3E}">
        <p14:creationId xmlns:p14="http://schemas.microsoft.com/office/powerpoint/2010/main" val="17238727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colab.research.google.com/drive/1UOmwdbYhTU_zuQTGNnNSxud7-cjnlavL?usp=sharing"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B33AE-B8AE-4655-8294-F9D6F10386D6}"/>
              </a:ext>
            </a:extLst>
          </p:cNvPr>
          <p:cNvSpPr>
            <a:spLocks noGrp="1"/>
          </p:cNvSpPr>
          <p:nvPr>
            <p:ph type="ctrTitle"/>
          </p:nvPr>
        </p:nvSpPr>
        <p:spPr>
          <a:xfrm>
            <a:off x="1254493" y="429343"/>
            <a:ext cx="9144000" cy="2387600"/>
          </a:xfrm>
        </p:spPr>
        <p:txBody>
          <a:bodyPr>
            <a:normAutofit/>
          </a:bodyPr>
          <a:lstStyle/>
          <a:p>
            <a:r>
              <a:rPr lang="en-IN" sz="4000" dirty="0">
                <a:latin typeface="Times New Roman" panose="02020603050405020304" pitchFamily="18" charset="0"/>
                <a:cs typeface="Times New Roman" panose="02020603050405020304" pitchFamily="18" charset="0"/>
              </a:rPr>
              <a:t>RESUME SCREENING </a:t>
            </a:r>
            <a:br>
              <a:rPr lang="en-IN" sz="4000" dirty="0">
                <a:latin typeface="Times New Roman" panose="02020603050405020304" pitchFamily="18" charset="0"/>
                <a:cs typeface="Times New Roman" panose="02020603050405020304" pitchFamily="18" charset="0"/>
              </a:rPr>
            </a:br>
            <a:r>
              <a:rPr lang="en-IN" sz="4000" dirty="0">
                <a:latin typeface="Times New Roman" panose="02020603050405020304" pitchFamily="18" charset="0"/>
                <a:cs typeface="Times New Roman" panose="02020603050405020304" pitchFamily="18" charset="0"/>
              </a:rPr>
              <a:t>BASED ON JOB DESCRIPTION</a:t>
            </a:r>
            <a:br>
              <a:rPr lang="en-IN" sz="4000" dirty="0">
                <a:latin typeface="Times New Roman" panose="02020603050405020304" pitchFamily="18" charset="0"/>
                <a:cs typeface="Times New Roman" panose="02020603050405020304" pitchFamily="18" charset="0"/>
              </a:rPr>
            </a:br>
            <a:r>
              <a:rPr lang="en-IN" sz="4000" dirty="0">
                <a:latin typeface="Times New Roman" panose="02020603050405020304" pitchFamily="18" charset="0"/>
                <a:cs typeface="Times New Roman" panose="02020603050405020304" pitchFamily="18" charset="0"/>
              </a:rPr>
              <a:t>USING PYTHON</a:t>
            </a:r>
          </a:p>
        </p:txBody>
      </p:sp>
      <p:sp>
        <p:nvSpPr>
          <p:cNvPr id="3" name="Subtitle 2">
            <a:extLst>
              <a:ext uri="{FF2B5EF4-FFF2-40B4-BE49-F238E27FC236}">
                <a16:creationId xmlns:a16="http://schemas.microsoft.com/office/drawing/2014/main" id="{34B20E72-CB87-4983-9318-DB41F8C5A29B}"/>
              </a:ext>
            </a:extLst>
          </p:cNvPr>
          <p:cNvSpPr>
            <a:spLocks noGrp="1"/>
          </p:cNvSpPr>
          <p:nvPr>
            <p:ph type="subTitle" idx="1"/>
          </p:nvPr>
        </p:nvSpPr>
        <p:spPr>
          <a:xfrm>
            <a:off x="6192253" y="3429000"/>
            <a:ext cx="9144000" cy="1655762"/>
          </a:xfrm>
        </p:spPr>
        <p:txBody>
          <a:bodyPr>
            <a:normAutofit fontScale="77500" lnSpcReduction="20000"/>
          </a:bodyPr>
          <a:lstStyle/>
          <a:p>
            <a:endParaRPr lang="en-IN" dirty="0"/>
          </a:p>
          <a:p>
            <a:endParaRPr lang="en-IN" dirty="0"/>
          </a:p>
          <a:p>
            <a:endParaRPr lang="en-IN" dirty="0">
              <a:latin typeface="Times New Roman" panose="02020603050405020304" pitchFamily="18" charset="0"/>
              <a:cs typeface="Times New Roman" panose="02020603050405020304" pitchFamily="18" charset="0"/>
            </a:endParaRPr>
          </a:p>
          <a:p>
            <a:r>
              <a:rPr lang="en-IN" sz="3000" dirty="0">
                <a:latin typeface="Times New Roman" panose="02020603050405020304" pitchFamily="18" charset="0"/>
                <a:cs typeface="Times New Roman" panose="02020603050405020304" pitchFamily="18" charset="0"/>
              </a:rPr>
              <a:t>BY-AISHWARYA KAMBOJ</a:t>
            </a:r>
            <a:endParaRPr lang="en-IN" sz="28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2017451</a:t>
            </a:r>
          </a:p>
        </p:txBody>
      </p:sp>
    </p:spTree>
    <p:extLst>
      <p:ext uri="{BB962C8B-B14F-4D97-AF65-F5344CB8AC3E}">
        <p14:creationId xmlns:p14="http://schemas.microsoft.com/office/powerpoint/2010/main" val="35242600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32547-06F6-4750-A1BD-197225239061}"/>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PRESENTATION OUTLINE</a:t>
            </a:r>
          </a:p>
        </p:txBody>
      </p:sp>
      <p:sp>
        <p:nvSpPr>
          <p:cNvPr id="3" name="Content Placeholder 2">
            <a:extLst>
              <a:ext uri="{FF2B5EF4-FFF2-40B4-BE49-F238E27FC236}">
                <a16:creationId xmlns:a16="http://schemas.microsoft.com/office/drawing/2014/main" id="{7185FC96-0C0E-4E89-8505-5BF72430BA69}"/>
              </a:ext>
            </a:extLst>
          </p:cNvPr>
          <p:cNvSpPr>
            <a:spLocks noGrp="1"/>
          </p:cNvSpPr>
          <p:nvPr>
            <p:ph idx="1"/>
          </p:nvPr>
        </p:nvSpPr>
        <p:spPr/>
        <p:txBody>
          <a:bodyPr/>
          <a:lstStyle/>
          <a:p>
            <a:r>
              <a:rPr lang="en-IN" dirty="0"/>
              <a:t> </a:t>
            </a:r>
            <a:r>
              <a:rPr lang="en-IN" dirty="0">
                <a:latin typeface="Times New Roman" panose="02020603050405020304" pitchFamily="18" charset="0"/>
                <a:cs typeface="Times New Roman" panose="02020603050405020304" pitchFamily="18" charset="0"/>
              </a:rPr>
              <a:t>INTRODUCTION</a:t>
            </a:r>
          </a:p>
          <a:p>
            <a:r>
              <a:rPr lang="en-IN" dirty="0">
                <a:latin typeface="Times New Roman" panose="02020603050405020304" pitchFamily="18" charset="0"/>
                <a:cs typeface="Times New Roman" panose="02020603050405020304" pitchFamily="18" charset="0"/>
              </a:rPr>
              <a:t>STATEMENT PROBLEM</a:t>
            </a:r>
          </a:p>
          <a:p>
            <a:r>
              <a:rPr lang="en-IN" dirty="0">
                <a:latin typeface="Times New Roman" panose="02020603050405020304" pitchFamily="18" charset="0"/>
                <a:cs typeface="Times New Roman" panose="02020603050405020304" pitchFamily="18" charset="0"/>
              </a:rPr>
              <a:t>TOOLS AND SOFTWARE USED</a:t>
            </a:r>
          </a:p>
          <a:p>
            <a:r>
              <a:rPr lang="en-IN" dirty="0">
                <a:latin typeface="Times New Roman" panose="02020603050405020304" pitchFamily="18" charset="0"/>
                <a:cs typeface="Times New Roman" panose="02020603050405020304" pitchFamily="18" charset="0"/>
              </a:rPr>
              <a:t>METHODOLOGY</a:t>
            </a:r>
          </a:p>
          <a:p>
            <a:r>
              <a:rPr lang="en-IN" dirty="0">
                <a:latin typeface="Times New Roman" panose="02020603050405020304" pitchFamily="18" charset="0"/>
                <a:cs typeface="Times New Roman" panose="02020603050405020304" pitchFamily="18" charset="0"/>
              </a:rPr>
              <a:t>DIFFICULTIES FACED</a:t>
            </a:r>
          </a:p>
          <a:p>
            <a:r>
              <a:rPr lang="en-IN" dirty="0">
                <a:latin typeface="Times New Roman" panose="02020603050405020304" pitchFamily="18" charset="0"/>
                <a:cs typeface="Times New Roman" panose="02020603050405020304" pitchFamily="18" charset="0"/>
              </a:rPr>
              <a:t>FURTHER IMPROVEMENT</a:t>
            </a:r>
          </a:p>
          <a:p>
            <a:r>
              <a:rPr lang="en-IN" dirty="0">
                <a:latin typeface="Times New Roman" panose="02020603050405020304" pitchFamily="18" charset="0"/>
                <a:cs typeface="Times New Roman" panose="02020603050405020304" pitchFamily="18" charset="0"/>
              </a:rPr>
              <a:t>LIMITATIONS</a:t>
            </a:r>
          </a:p>
          <a:p>
            <a:r>
              <a:rPr lang="en-IN" dirty="0">
                <a:latin typeface="Times New Roman" panose="02020603050405020304" pitchFamily="18" charset="0"/>
                <a:cs typeface="Times New Roman" panose="02020603050405020304" pitchFamily="18" charset="0"/>
              </a:rPr>
              <a:t>FUTURE PLAN</a:t>
            </a:r>
          </a:p>
          <a:p>
            <a:endParaRPr lang="en-IN" dirty="0"/>
          </a:p>
          <a:p>
            <a:endParaRPr lang="en-IN" dirty="0"/>
          </a:p>
        </p:txBody>
      </p:sp>
    </p:spTree>
    <p:extLst>
      <p:ext uri="{BB962C8B-B14F-4D97-AF65-F5344CB8AC3E}">
        <p14:creationId xmlns:p14="http://schemas.microsoft.com/office/powerpoint/2010/main" val="4020487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56853-49A1-4FC2-A382-1B17F7B12E60}"/>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5C78AACD-E782-4AE0-80A7-B07799AC7ED1}"/>
              </a:ext>
            </a:extLst>
          </p:cNvPr>
          <p:cNvSpPr>
            <a:spLocks noGrp="1"/>
          </p:cNvSpPr>
          <p:nvPr>
            <p:ph idx="1"/>
          </p:nvPr>
        </p:nvSpPr>
        <p:spPr>
          <a:xfrm>
            <a:off x="1154954" y="2276061"/>
            <a:ext cx="8825659" cy="4234069"/>
          </a:xfrm>
        </p:spPr>
        <p:txBody>
          <a:bodyPr>
            <a:norm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sz="2000" dirty="0">
                <a:solidFill>
                  <a:srgbClr val="24292F"/>
                </a:solidFill>
                <a:effectLst/>
                <a:latin typeface="Times New Roman" panose="02020603050405020304" pitchFamily="18" charset="0"/>
                <a:ea typeface="Times New Roman" panose="02020603050405020304" pitchFamily="18" charset="0"/>
                <a:cs typeface="Times New Roman" panose="02020603050405020304" pitchFamily="18" charset="0"/>
              </a:rPr>
              <a:t>Resume screening is the process of determining whether a candidate is qualified for a role based on his or her education, experience, and other information captured on their resume.</a:t>
            </a:r>
            <a:endParaRPr lang="en-IN" sz="2000" dirty="0">
              <a:solidFill>
                <a:srgbClr val="24292F"/>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00"/>
              </a:spcBef>
              <a:spcAft>
                <a:spcPts val="800"/>
              </a:spcAft>
              <a:buSzPts val="1000"/>
              <a:buFont typeface="Symbol" panose="05050102010706020507" pitchFamily="18" charset="2"/>
              <a:buChar char=""/>
              <a:tabLst>
                <a:tab pos="457200" algn="l"/>
              </a:tabLst>
            </a:pPr>
            <a:r>
              <a:rPr lang="en-IN" sz="2000" dirty="0">
                <a:solidFill>
                  <a:srgbClr val="24292F"/>
                </a:solidFill>
                <a:effectLst/>
                <a:latin typeface="Times New Roman" panose="02020603050405020304" pitchFamily="18" charset="0"/>
                <a:ea typeface="Times New Roman" panose="02020603050405020304" pitchFamily="18" charset="0"/>
                <a:cs typeface="Times New Roman" panose="02020603050405020304" pitchFamily="18" charset="0"/>
              </a:rPr>
              <a:t>It’s a form of pattern matching between a job’s requirements and the qualifications of a candidate based on their resume.</a:t>
            </a:r>
            <a:endParaRPr lang="en-IN" sz="2000" dirty="0">
              <a:solidFill>
                <a:srgbClr val="24292F"/>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00"/>
              </a:spcBef>
              <a:spcAft>
                <a:spcPts val="800"/>
              </a:spcAft>
              <a:buSzPts val="1000"/>
              <a:buFont typeface="Symbol" panose="05050102010706020507" pitchFamily="18" charset="2"/>
              <a:buChar char=""/>
              <a:tabLst>
                <a:tab pos="457200" algn="l"/>
              </a:tabLst>
            </a:pPr>
            <a:r>
              <a:rPr lang="en-IN" sz="2000" dirty="0">
                <a:solidFill>
                  <a:srgbClr val="24292F"/>
                </a:solidFill>
                <a:effectLst/>
                <a:latin typeface="Times New Roman" panose="02020603050405020304" pitchFamily="18" charset="0"/>
                <a:ea typeface="Times New Roman" panose="02020603050405020304" pitchFamily="18" charset="0"/>
                <a:cs typeface="Times New Roman" panose="02020603050405020304" pitchFamily="18" charset="0"/>
              </a:rPr>
              <a:t>The goal of screening resumes is to decide whether to move a candidate forward – usually onto an interview – or to reject them.</a:t>
            </a:r>
            <a:endParaRPr lang="en-IN" sz="2000" dirty="0">
              <a:solidFill>
                <a:srgbClr val="24292F"/>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endParaRPr lang="en-IN" sz="1800" spc="-5" dirty="0">
              <a:solidFill>
                <a:srgbClr val="292929"/>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4149582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A792B-9854-6CD8-9AB2-73139828A2AA}"/>
              </a:ext>
            </a:extLst>
          </p:cNvPr>
          <p:cNvSpPr>
            <a:spLocks noGrp="1"/>
          </p:cNvSpPr>
          <p:nvPr>
            <p:ph type="title"/>
          </p:nvPr>
        </p:nvSpPr>
        <p:spPr/>
        <p:txBody>
          <a:bodyPr/>
          <a:lstStyle/>
          <a:p>
            <a:r>
              <a:rPr lang="en-IN" dirty="0"/>
              <a:t>WHY DO WE NEED RESUME SCREENING</a:t>
            </a:r>
          </a:p>
        </p:txBody>
      </p:sp>
      <p:sp>
        <p:nvSpPr>
          <p:cNvPr id="3" name="Content Placeholder 2">
            <a:extLst>
              <a:ext uri="{FF2B5EF4-FFF2-40B4-BE49-F238E27FC236}">
                <a16:creationId xmlns:a16="http://schemas.microsoft.com/office/drawing/2014/main" id="{CFD53CB0-A6EB-9AF9-4499-EE0DFF3E5ED3}"/>
              </a:ext>
            </a:extLst>
          </p:cNvPr>
          <p:cNvSpPr>
            <a:spLocks noGrp="1"/>
          </p:cNvSpPr>
          <p:nvPr>
            <p:ph idx="1"/>
          </p:nvPr>
        </p:nvSpPr>
        <p:spPr/>
        <p:txBody>
          <a:bodyPr>
            <a:normAutofit fontScale="92500" lnSpcReduction="20000"/>
          </a:bodyPr>
          <a:lstStyle/>
          <a:p>
            <a:pPr marL="342900" lvl="0" indent="-342900">
              <a:lnSpc>
                <a:spcPct val="107000"/>
              </a:lnSpc>
              <a:spcAft>
                <a:spcPts val="800"/>
              </a:spcAft>
              <a:buSzPts val="1000"/>
              <a:buFont typeface="Symbol" panose="05050102010706020507" pitchFamily="18" charset="2"/>
              <a:buChar char=""/>
              <a:tabLst>
                <a:tab pos="318770" algn="l"/>
              </a:tabLst>
            </a:pPr>
            <a:r>
              <a:rPr lang="en-IN" sz="2000" dirty="0">
                <a:solidFill>
                  <a:srgbClr val="24292F"/>
                </a:solidFill>
                <a:effectLst/>
                <a:latin typeface="Times New Roman" panose="02020603050405020304" pitchFamily="18" charset="0"/>
                <a:ea typeface="Calibri" panose="020F0502020204030204" pitchFamily="34" charset="0"/>
                <a:cs typeface="Times New Roman" panose="02020603050405020304" pitchFamily="18" charset="0"/>
              </a:rPr>
              <a:t>For each recruitment, companies take out the resume, referrals and go through them manually.</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00"/>
              </a:spcBef>
              <a:spcAft>
                <a:spcPts val="800"/>
              </a:spcAft>
              <a:buSzPts val="1000"/>
              <a:buFont typeface="Symbol" panose="05050102010706020507" pitchFamily="18" charset="2"/>
              <a:buChar char=""/>
              <a:tabLst>
                <a:tab pos="318770" algn="l"/>
              </a:tabLst>
            </a:pPr>
            <a:r>
              <a:rPr lang="en-IN" sz="2000" dirty="0">
                <a:solidFill>
                  <a:srgbClr val="24292F"/>
                </a:solidFill>
                <a:effectLst/>
                <a:latin typeface="Times New Roman" panose="02020603050405020304" pitchFamily="18" charset="0"/>
                <a:ea typeface="Calibri" panose="020F0502020204030204" pitchFamily="34" charset="0"/>
                <a:cs typeface="Times New Roman" panose="02020603050405020304" pitchFamily="18" charset="0"/>
              </a:rPr>
              <a:t>Companies often received thousands of resumes for every job posting.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00"/>
              </a:spcBef>
              <a:spcAft>
                <a:spcPts val="800"/>
              </a:spcAft>
              <a:buSzPts val="1000"/>
              <a:buFont typeface="Symbol" panose="05050102010706020507" pitchFamily="18" charset="2"/>
              <a:buChar char=""/>
              <a:tabLst>
                <a:tab pos="318770" algn="l"/>
              </a:tabLst>
            </a:pPr>
            <a:r>
              <a:rPr lang="en-IN" sz="2000" dirty="0">
                <a:solidFill>
                  <a:srgbClr val="24292F"/>
                </a:solidFill>
                <a:effectLst/>
                <a:latin typeface="Times New Roman" panose="02020603050405020304" pitchFamily="18" charset="0"/>
                <a:ea typeface="Calibri" panose="020F0502020204030204" pitchFamily="34" charset="0"/>
                <a:cs typeface="Times New Roman" panose="02020603050405020304" pitchFamily="18" charset="0"/>
              </a:rPr>
              <a:t>When companies collect resumes then they categorize those resumes according to their requirements and then they send the collected resumes to the Hiring Team's.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00"/>
              </a:spcBef>
              <a:spcAft>
                <a:spcPts val="800"/>
              </a:spcAft>
              <a:buSzPts val="1000"/>
              <a:buFont typeface="Symbol" panose="05050102010706020507" pitchFamily="18" charset="2"/>
              <a:buChar char=""/>
              <a:tabLst>
                <a:tab pos="318770" algn="l"/>
              </a:tabLst>
            </a:pPr>
            <a:r>
              <a:rPr lang="en-IN" sz="2000" dirty="0">
                <a:solidFill>
                  <a:srgbClr val="24292F"/>
                </a:solidFill>
                <a:effectLst/>
                <a:latin typeface="Times New Roman" panose="02020603050405020304" pitchFamily="18" charset="0"/>
                <a:ea typeface="Calibri" panose="020F0502020204030204" pitchFamily="34" charset="0"/>
                <a:cs typeface="Times New Roman" panose="02020603050405020304" pitchFamily="18" charset="0"/>
              </a:rPr>
              <a:t>It becomes very difficult for the hiring teams to read the resume and select the resume according to the requirement, there is no problem if there are one or two resumes but it is very difficult to go through 1000’s resumes and select the best one.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300"/>
              </a:spcBef>
              <a:spcAft>
                <a:spcPts val="800"/>
              </a:spcAft>
              <a:buSzPts val="1000"/>
              <a:buFont typeface="Symbol" panose="05050102010706020507" pitchFamily="18" charset="2"/>
              <a:buChar char=""/>
              <a:tabLst>
                <a:tab pos="318770" algn="l"/>
              </a:tabLst>
            </a:pPr>
            <a:r>
              <a:rPr lang="en-IN" sz="2000" dirty="0">
                <a:solidFill>
                  <a:srgbClr val="24292F"/>
                </a:solidFill>
                <a:effectLst/>
                <a:latin typeface="Times New Roman" panose="02020603050405020304" pitchFamily="18" charset="0"/>
                <a:ea typeface="Calibri" panose="020F0502020204030204" pitchFamily="34" charset="0"/>
                <a:cs typeface="Times New Roman" panose="02020603050405020304" pitchFamily="18" charset="0"/>
              </a:rPr>
              <a:t>To solve this problem, we will screen the resume using machine learning and </a:t>
            </a:r>
            <a:r>
              <a:rPr lang="en-IN" sz="2000" dirty="0" err="1">
                <a:solidFill>
                  <a:srgbClr val="24292F"/>
                </a:solidFill>
                <a:effectLst/>
                <a:latin typeface="Times New Roman" panose="02020603050405020304" pitchFamily="18" charset="0"/>
                <a:ea typeface="Calibri" panose="020F0502020204030204" pitchFamily="34" charset="0"/>
                <a:cs typeface="Times New Roman" panose="02020603050405020304" pitchFamily="18" charset="0"/>
              </a:rPr>
              <a:t>Nlp</a:t>
            </a:r>
            <a:r>
              <a:rPr lang="en-IN" sz="2000" dirty="0">
                <a:solidFill>
                  <a:srgbClr val="24292F"/>
                </a:solidFill>
                <a:effectLst/>
                <a:latin typeface="Times New Roman" panose="02020603050405020304" pitchFamily="18" charset="0"/>
                <a:ea typeface="Calibri" panose="020F0502020204030204" pitchFamily="34" charset="0"/>
                <a:cs typeface="Times New Roman" panose="02020603050405020304" pitchFamily="18" charset="0"/>
              </a:rPr>
              <a:t> using Python so that we can complete days of work in few minutes.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07507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881E7-85D9-41AD-9589-95C5058F7CB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STATEMENT PROBLEM</a:t>
            </a:r>
          </a:p>
        </p:txBody>
      </p:sp>
      <p:sp>
        <p:nvSpPr>
          <p:cNvPr id="3" name="Content Placeholder 2">
            <a:extLst>
              <a:ext uri="{FF2B5EF4-FFF2-40B4-BE49-F238E27FC236}">
                <a16:creationId xmlns:a16="http://schemas.microsoft.com/office/drawing/2014/main" id="{F5795212-BE08-4237-8240-EC0A721AF757}"/>
              </a:ext>
            </a:extLst>
          </p:cNvPr>
          <p:cNvSpPr>
            <a:spLocks noGrp="1"/>
          </p:cNvSpPr>
          <p:nvPr>
            <p:ph idx="1"/>
          </p:nvPr>
        </p:nvSpPr>
        <p:spPr/>
        <p:txBody>
          <a:bodyPr/>
          <a:lstStyle/>
          <a:p>
            <a:r>
              <a:rPr lang="en-US" sz="2000" dirty="0">
                <a:ln>
                  <a:noFill/>
                </a:ln>
                <a:latin typeface="Times New Roman" panose="02020603050405020304" pitchFamily="18" charset="0"/>
                <a:ea typeface="Calibri" panose="020F0502020204030204" pitchFamily="34" charset="0"/>
                <a:cs typeface="Times New Roman" panose="02020603050405020304" pitchFamily="18" charset="0"/>
              </a:rPr>
              <a:t>Resume screening is a project in which </a:t>
            </a:r>
            <a:r>
              <a:rPr lang="en-US" sz="2000" dirty="0">
                <a:ln>
                  <a:noFill/>
                </a:ln>
                <a:effectLst>
                  <a:outerShdw blurRad="38100" dist="25400" dir="5400000" algn="ctr">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we </a:t>
            </a:r>
            <a:r>
              <a:rPr lang="en-IN" sz="2000" dirty="0">
                <a:solidFill>
                  <a:srgbClr val="24292F"/>
                </a:solidFill>
                <a:effectLst/>
                <a:latin typeface="Times New Roman" panose="02020603050405020304" pitchFamily="18" charset="0"/>
                <a:ea typeface="Times New Roman" panose="02020603050405020304" pitchFamily="18" charset="0"/>
                <a:cs typeface="Times New Roman" panose="02020603050405020304" pitchFamily="18" charset="0"/>
              </a:rPr>
              <a:t>determine whether a candidate is qualified for a role based on his or her education, experience, and other information captured on their resume.</a:t>
            </a:r>
            <a:endParaRPr lang="en-IN" sz="2000" dirty="0">
              <a:solidFill>
                <a:srgbClr val="24292F"/>
              </a:solidFill>
              <a:effectLst/>
              <a:latin typeface="Times New Roman" panose="02020603050405020304" pitchFamily="18" charset="0"/>
              <a:ea typeface="Calibri" panose="020F0502020204030204" pitchFamily="34" charset="0"/>
              <a:cs typeface="Times New Roman" panose="02020603050405020304" pitchFamily="18" charset="0"/>
            </a:endParaRPr>
          </a:p>
          <a:p>
            <a:r>
              <a:rPr lang="en-IN" sz="2000" dirty="0">
                <a:solidFill>
                  <a:srgbClr val="24292F"/>
                </a:solidFill>
                <a:effectLst/>
                <a:latin typeface="Times New Roman" panose="02020603050405020304" pitchFamily="18" charset="0"/>
                <a:ea typeface="Times New Roman" panose="02020603050405020304" pitchFamily="18" charset="0"/>
                <a:cs typeface="Times New Roman" panose="02020603050405020304" pitchFamily="18" charset="0"/>
              </a:rPr>
              <a:t>The goal of screening resumes is to decide whether to move a candidate forward – usually onto an interview – or to reject them.</a:t>
            </a:r>
            <a:endParaRPr lang="en-IN" sz="2000" dirty="0">
              <a:solidFill>
                <a:srgbClr val="24292F"/>
              </a:solidFill>
              <a:effectLst/>
              <a:latin typeface="Times New Roman" panose="02020603050405020304" pitchFamily="18"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620739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3534D-3963-436F-B558-C53076828086}"/>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TOOLS AND SOFTWARE</a:t>
            </a:r>
          </a:p>
        </p:txBody>
      </p:sp>
      <p:sp>
        <p:nvSpPr>
          <p:cNvPr id="6" name="TextBox 5">
            <a:extLst>
              <a:ext uri="{FF2B5EF4-FFF2-40B4-BE49-F238E27FC236}">
                <a16:creationId xmlns:a16="http://schemas.microsoft.com/office/drawing/2014/main" id="{CC177E95-5E6A-495D-8DA1-BE152624906E}"/>
              </a:ext>
            </a:extLst>
          </p:cNvPr>
          <p:cNvSpPr txBox="1"/>
          <p:nvPr/>
        </p:nvSpPr>
        <p:spPr>
          <a:xfrm>
            <a:off x="914398" y="2881411"/>
            <a:ext cx="3579324" cy="400110"/>
          </a:xfrm>
          <a:prstGeom prst="rect">
            <a:avLst/>
          </a:prstGeom>
          <a:noFill/>
        </p:spPr>
        <p:txBody>
          <a:bodyPr wrap="square" rtlCol="0">
            <a:spAutoFit/>
          </a:bodyPr>
          <a:lstStyle/>
          <a:p>
            <a:r>
              <a:rPr lang="en-IN" sz="2000" dirty="0">
                <a:latin typeface="Times New Roman" panose="02020603050405020304" pitchFamily="18" charset="0"/>
                <a:cs typeface="Times New Roman" panose="02020603050405020304" pitchFamily="18" charset="0"/>
              </a:rPr>
              <a:t>LIBRARIES USED</a:t>
            </a:r>
          </a:p>
        </p:txBody>
      </p:sp>
      <p:sp>
        <p:nvSpPr>
          <p:cNvPr id="7" name="TextBox 6">
            <a:extLst>
              <a:ext uri="{FF2B5EF4-FFF2-40B4-BE49-F238E27FC236}">
                <a16:creationId xmlns:a16="http://schemas.microsoft.com/office/drawing/2014/main" id="{68DB7F78-33F7-45D7-B3FE-790EDCCC5B32}"/>
              </a:ext>
            </a:extLst>
          </p:cNvPr>
          <p:cNvSpPr txBox="1"/>
          <p:nvPr/>
        </p:nvSpPr>
        <p:spPr>
          <a:xfrm flipH="1">
            <a:off x="960119" y="2279285"/>
            <a:ext cx="3700916" cy="64633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SOFTWARE USED- </a:t>
            </a:r>
          </a:p>
          <a:p>
            <a:r>
              <a:rPr lang="en-IN" dirty="0">
                <a:latin typeface="Times New Roman" panose="02020603050405020304" pitchFamily="18" charset="0"/>
                <a:cs typeface="Times New Roman" panose="02020603050405020304" pitchFamily="18" charset="0"/>
              </a:rPr>
              <a:t>GOOGLE COLAB</a:t>
            </a:r>
          </a:p>
        </p:txBody>
      </p:sp>
      <p:pic>
        <p:nvPicPr>
          <p:cNvPr id="13" name="Content Placeholder 12">
            <a:extLst>
              <a:ext uri="{FF2B5EF4-FFF2-40B4-BE49-F238E27FC236}">
                <a16:creationId xmlns:a16="http://schemas.microsoft.com/office/drawing/2014/main" id="{7650C05A-9383-5959-5F99-29B1E08777C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7735" t="26679" r="27098" b="30236"/>
          <a:stretch/>
        </p:blipFill>
        <p:spPr>
          <a:xfrm>
            <a:off x="960119" y="3281521"/>
            <a:ext cx="6371924" cy="3230986"/>
          </a:xfrm>
        </p:spPr>
      </p:pic>
    </p:spTree>
    <p:extLst>
      <p:ext uri="{BB962C8B-B14F-4D97-AF65-F5344CB8AC3E}">
        <p14:creationId xmlns:p14="http://schemas.microsoft.com/office/powerpoint/2010/main" val="32181745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4723E-60B3-416A-AF6A-357FAD966E39}"/>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8705203F-447D-4D6E-B27D-00611F3CED9E}"/>
              </a:ext>
            </a:extLst>
          </p:cNvPr>
          <p:cNvSpPr>
            <a:spLocks noGrp="1"/>
          </p:cNvSpPr>
          <p:nvPr>
            <p:ph idx="1"/>
          </p:nvPr>
        </p:nvSpPr>
        <p:spPr/>
        <p:txBody>
          <a:bodyPr>
            <a:normAutofit fontScale="92500" lnSpcReduction="20000"/>
          </a:bodyPr>
          <a:lstStyle/>
          <a:p>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1800" b="1"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DATA PREPROCESSING</a:t>
            </a:r>
            <a:r>
              <a:rPr lang="en-IN"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 With the help of the attributes present in the seaborn library we make a grid or a pie chart to properly depict the categories. We will simply display the categories that the individual or the job seeker qualifies in using a grid or a plot graph where we’ll clearly be able to analyse the users skills and abilities.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b="0" i="0" dirty="0">
              <a:solidFill>
                <a:srgbClr val="212529"/>
              </a:solidFill>
              <a:effectLst/>
              <a:latin typeface="Times New Roman" panose="02020603050405020304" pitchFamily="18" charset="0"/>
              <a:cs typeface="Times New Roman" panose="02020603050405020304" pitchFamily="18" charset="0"/>
            </a:endParaRPr>
          </a:p>
          <a:p>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800" b="1" dirty="0">
                <a:effectLst/>
                <a:latin typeface="Times New Roman" panose="02020603050405020304" pitchFamily="18" charset="0"/>
                <a:ea typeface="Calibri" panose="020F0502020204030204" pitchFamily="34" charset="0"/>
                <a:cs typeface="Times New Roman" panose="02020603050405020304" pitchFamily="18" charset="0"/>
              </a:rPr>
              <a:t>CLEANING THE DATASET</a:t>
            </a:r>
            <a:r>
              <a:rPr lang="en-IN" sz="1800" dirty="0">
                <a:effectLst/>
                <a:latin typeface="Times New Roman" panose="02020603050405020304" pitchFamily="18" charset="0"/>
                <a:ea typeface="Calibri" panose="020F0502020204030204" pitchFamily="34" charset="0"/>
                <a:cs typeface="Times New Roman" panose="02020603050405020304" pitchFamily="18" charset="0"/>
              </a:rPr>
              <a:t> -Then we clean the dataset which means the removal of all the stopwords, and the unnecessary unrequired symbols with the help of the nltk library which will help us generate cleaned sentences. In cleaning, all special characters, the numbers, and the single letter words are removed. We got the clean dataset after these steps having no special characters, numbers or single letter word. The dataset is split into the tokens using the NLTK tokens, later other preprocessing steps are applied on the dataset. </a:t>
            </a:r>
          </a:p>
          <a:p>
            <a:r>
              <a:rPr lang="en-IN" sz="1800" b="1" dirty="0">
                <a:effectLst/>
                <a:latin typeface="Times New Roman" panose="02020603050405020304" pitchFamily="18" charset="0"/>
                <a:ea typeface="Calibri" panose="020F0502020204030204" pitchFamily="34" charset="0"/>
              </a:rPr>
              <a:t>• FEATURE SELECTION</a:t>
            </a:r>
            <a:r>
              <a:rPr lang="en-IN" sz="1800" dirty="0">
                <a:effectLst/>
                <a:latin typeface="Times New Roman" panose="02020603050405020304" pitchFamily="18" charset="0"/>
                <a:ea typeface="Calibri" panose="020F0502020204030204" pitchFamily="34" charset="0"/>
              </a:rPr>
              <a:t> -The next step is feature extraction. On the </a:t>
            </a:r>
            <a:r>
              <a:rPr lang="en-IN" sz="1800" dirty="0" err="1">
                <a:effectLst/>
                <a:latin typeface="Times New Roman" panose="02020603050405020304" pitchFamily="18" charset="0"/>
                <a:ea typeface="Calibri" panose="020F0502020204030204" pitchFamily="34" charset="0"/>
              </a:rPr>
              <a:t>preprocessed</a:t>
            </a:r>
            <a:r>
              <a:rPr lang="en-IN" sz="1800" dirty="0">
                <a:effectLst/>
                <a:latin typeface="Times New Roman" panose="02020603050405020304" pitchFamily="18" charset="0"/>
                <a:ea typeface="Calibri" panose="020F0502020204030204" pitchFamily="34" charset="0"/>
              </a:rPr>
              <a:t> dataset, we have extracted the useful features using Vectorization. The cleaned out data is imported and feature extraction was carried out using </a:t>
            </a:r>
            <a:r>
              <a:rPr lang="en-IN" sz="1800" dirty="0" err="1">
                <a:effectLst/>
                <a:latin typeface="Times New Roman" panose="02020603050405020304" pitchFamily="18" charset="0"/>
                <a:ea typeface="Calibri" panose="020F0502020204030204" pitchFamily="34" charset="0"/>
              </a:rPr>
              <a:t>Tf-Idf</a:t>
            </a:r>
            <a:r>
              <a:rPr lang="en-IN" sz="1800" dirty="0">
                <a:effectLst/>
                <a:latin typeface="Times New Roman" panose="02020603050405020304" pitchFamily="18" charset="0"/>
                <a:ea typeface="Calibri" panose="020F0502020204030204" pitchFamily="34" charset="0"/>
              </a:rPr>
              <a:t>. </a:t>
            </a:r>
          </a:p>
          <a:p>
            <a:endParaRPr lang="en-IN" b="0" i="0" dirty="0">
              <a:solidFill>
                <a:srgbClr val="212529"/>
              </a:solidFill>
              <a:effectLst/>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0E877BF-6CA6-E6A2-F610-70D4C25ADA97}"/>
              </a:ext>
            </a:extLst>
          </p:cNvPr>
          <p:cNvSpPr txBox="1"/>
          <p:nvPr/>
        </p:nvSpPr>
        <p:spPr>
          <a:xfrm>
            <a:off x="1559257" y="5884332"/>
            <a:ext cx="6093724" cy="923330"/>
          </a:xfrm>
          <a:prstGeom prst="rect">
            <a:avLst/>
          </a:prstGeom>
          <a:noFill/>
        </p:spPr>
        <p:txBody>
          <a:bodyPr wrap="square">
            <a:spAutoFit/>
          </a:bodyPr>
          <a:lstStyle/>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CODE: </a:t>
            </a:r>
            <a:r>
              <a:rPr lang="en-IN" sz="1800" dirty="0">
                <a:effectLst/>
                <a:latin typeface="Calibri" panose="020F0502020204030204" pitchFamily="34" charset="0"/>
                <a:ea typeface="Calibri" panose="020F0502020204030204" pitchFamily="34" charset="0"/>
                <a:cs typeface="Times New Roman" panose="02020603050405020304" pitchFamily="18" charset="0"/>
                <a:hlinkClick r:id="rId2"/>
              </a:rPr>
              <a:t>https://colab.research.google.com/drive/1UOmwdbYhTU_zuQTGNnNSxud7-cjnlavL?usp=sharing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5256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E4A77-CAA6-4F45-A440-F2E482A7B0B4}"/>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DIFFICULTIES FACED</a:t>
            </a:r>
          </a:p>
        </p:txBody>
      </p:sp>
      <p:sp>
        <p:nvSpPr>
          <p:cNvPr id="3" name="Content Placeholder 2">
            <a:extLst>
              <a:ext uri="{FF2B5EF4-FFF2-40B4-BE49-F238E27FC236}">
                <a16:creationId xmlns:a16="http://schemas.microsoft.com/office/drawing/2014/main" id="{00994063-5078-4F3F-81EB-69E948761D2E}"/>
              </a:ext>
            </a:extLst>
          </p:cNvPr>
          <p:cNvSpPr>
            <a:spLocks noGrp="1"/>
          </p:cNvSpPr>
          <p:nvPr>
            <p:ph idx="1"/>
          </p:nvPr>
        </p:nvSpPr>
        <p:spPr/>
        <p:txBody>
          <a:bodyPr>
            <a:normAutofit/>
          </a:bodyPr>
          <a:lstStyle/>
          <a:p>
            <a:pPr marL="0" indent="0">
              <a:buNone/>
            </a:pPr>
            <a:endParaRPr lang="en-US" sz="2000" b="1" i="0" dirty="0">
              <a:solidFill>
                <a:srgbClr val="292929"/>
              </a:solidFill>
              <a:effectLst/>
              <a:latin typeface="Times New Roman" panose="02020603050405020304" pitchFamily="18" charset="0"/>
              <a:cs typeface="Times New Roman" panose="02020603050405020304" pitchFamily="18" charset="0"/>
            </a:endParaRPr>
          </a:p>
          <a:p>
            <a:r>
              <a:rPr lang="en-IN" sz="2000" i="0" dirty="0">
                <a:solidFill>
                  <a:srgbClr val="292929"/>
                </a:solidFill>
                <a:effectLst/>
                <a:latin typeface="Times New Roman" panose="02020603050405020304" pitchFamily="18" charset="0"/>
                <a:cs typeface="Times New Roman" panose="02020603050405020304" pitchFamily="18" charset="0"/>
              </a:rPr>
              <a:t>Multi-class Imbalance</a:t>
            </a:r>
          </a:p>
          <a:p>
            <a:r>
              <a:rPr lang="en-IN" sz="2000" i="0" dirty="0">
                <a:solidFill>
                  <a:srgbClr val="292929"/>
                </a:solidFill>
                <a:effectLst/>
                <a:latin typeface="Times New Roman" panose="02020603050405020304" pitchFamily="18" charset="0"/>
                <a:cs typeface="Times New Roman" panose="02020603050405020304" pitchFamily="18" charset="0"/>
              </a:rPr>
              <a:t>Non-descriptive data</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34865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36085-8146-442A-9D9C-F4682771C56A}"/>
              </a:ext>
            </a:extLst>
          </p:cNvPr>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FUTURE PLAN</a:t>
            </a:r>
          </a:p>
        </p:txBody>
      </p:sp>
      <p:sp>
        <p:nvSpPr>
          <p:cNvPr id="3" name="Content Placeholder 2">
            <a:extLst>
              <a:ext uri="{FF2B5EF4-FFF2-40B4-BE49-F238E27FC236}">
                <a16:creationId xmlns:a16="http://schemas.microsoft.com/office/drawing/2014/main" id="{262B5528-DA01-442F-A8C7-E6B3C97E1DC5}"/>
              </a:ext>
            </a:extLst>
          </p:cNvPr>
          <p:cNvSpPr>
            <a:spLocks noGrp="1"/>
          </p:cNvSpPr>
          <p:nvPr>
            <p:ph idx="1"/>
          </p:nvPr>
        </p:nvSpPr>
        <p:spPr/>
        <p:txBody>
          <a:bodyPr/>
          <a:lstStyle/>
          <a:p>
            <a:pPr>
              <a:buAutoNum type="arabicParenBoth"/>
            </a:pPr>
            <a:r>
              <a:rPr lang="en-US" dirty="0">
                <a:solidFill>
                  <a:srgbClr val="292929"/>
                </a:solidFill>
                <a:latin typeface="Times New Roman" panose="02020603050405020304" pitchFamily="18" charset="0"/>
                <a:cs typeface="Times New Roman" panose="02020603050405020304" pitchFamily="18" charset="0"/>
              </a:rPr>
              <a:t>Future work for this system  includes mining social networking data (e.g. Facebook, LinkedIn,  GitHub profiles) of  the candidates and utilizing  this social behavior information in combination with resume content to make even  more  improved  recommendations</a:t>
            </a:r>
            <a:endParaRPr lang="en-IN" i="0" dirty="0">
              <a:solidFill>
                <a:srgbClr val="292929"/>
              </a:solidFill>
              <a:effectLst/>
              <a:latin typeface="Times New Roman" panose="02020603050405020304" pitchFamily="18" charset="0"/>
              <a:cs typeface="Times New Roman" panose="02020603050405020304" pitchFamily="18" charset="0"/>
            </a:endParaRPr>
          </a:p>
          <a:p>
            <a:pPr>
              <a:buAutoNum type="arabicParenBoth"/>
            </a:pPr>
            <a:r>
              <a:rPr lang="en-US" i="0" dirty="0">
                <a:solidFill>
                  <a:srgbClr val="292929"/>
                </a:solidFill>
                <a:effectLst/>
                <a:latin typeface="Times New Roman" panose="02020603050405020304" pitchFamily="18" charset="0"/>
                <a:cs typeface="Times New Roman" panose="02020603050405020304" pitchFamily="18" charset="0"/>
              </a:rPr>
              <a:t>also we can combine these classification models with the frontend resume portal where the user will be able to upload their resumes and resume classification can work in the backend.</a:t>
            </a:r>
            <a:endParaRPr lang="en-IN" i="0" dirty="0">
              <a:solidFill>
                <a:srgbClr val="292929"/>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7943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2C16B-B109-4AC2-8C76-E1E5B42470D1}"/>
              </a:ext>
            </a:extLst>
          </p:cNvPr>
          <p:cNvSpPr>
            <a:spLocks noGrp="1"/>
          </p:cNvSpPr>
          <p:nvPr>
            <p:ph type="title"/>
          </p:nvPr>
        </p:nvSpPr>
        <p:spPr/>
        <p:txBody>
          <a:bodyPr/>
          <a:lstStyle/>
          <a:p>
            <a:r>
              <a:rPr lang="en-IN" sz="4000" dirty="0">
                <a:latin typeface="Times New Roman" panose="02020603050405020304" pitchFamily="18" charset="0"/>
                <a:cs typeface="Times New Roman" panose="02020603050405020304" pitchFamily="18" charset="0"/>
              </a:rPr>
              <a:t>LIMITATIONS</a:t>
            </a:r>
          </a:p>
        </p:txBody>
      </p:sp>
      <p:sp>
        <p:nvSpPr>
          <p:cNvPr id="3" name="Content Placeholder 2">
            <a:extLst>
              <a:ext uri="{FF2B5EF4-FFF2-40B4-BE49-F238E27FC236}">
                <a16:creationId xmlns:a16="http://schemas.microsoft.com/office/drawing/2014/main" id="{65EA9BDA-7096-4DB7-A882-F5C6B430E0AA}"/>
              </a:ext>
            </a:extLst>
          </p:cNvPr>
          <p:cNvSpPr>
            <a:spLocks noGrp="1"/>
          </p:cNvSpPr>
          <p:nvPr>
            <p:ph idx="1"/>
          </p:nvPr>
        </p:nvSpPr>
        <p:spPr/>
        <p:txBody>
          <a:bodyPr/>
          <a:lstStyle/>
          <a:p>
            <a:r>
              <a:rPr lang="en-IN" i="0" dirty="0">
                <a:solidFill>
                  <a:srgbClr val="222222"/>
                </a:solidFill>
                <a:effectLst/>
                <a:latin typeface="Arial" panose="020B0604020202020204" pitchFamily="34" charset="0"/>
              </a:rPr>
              <a:t>High Volume of Responses</a:t>
            </a:r>
          </a:p>
          <a:p>
            <a:r>
              <a:rPr lang="en-IN" i="0" dirty="0">
                <a:solidFill>
                  <a:srgbClr val="222222"/>
                </a:solidFill>
                <a:effectLst/>
                <a:latin typeface="Arial" panose="020B0604020202020204" pitchFamily="34" charset="0"/>
              </a:rPr>
              <a:t>Logistical Problems</a:t>
            </a:r>
          </a:p>
          <a:p>
            <a:endParaRPr lang="en-IN" b="1" i="0" dirty="0">
              <a:solidFill>
                <a:srgbClr val="222222"/>
              </a:solidFill>
              <a:effectLst/>
              <a:latin typeface="Arial" panose="020B0604020202020204" pitchFamily="34" charset="0"/>
            </a:endParaRPr>
          </a:p>
        </p:txBody>
      </p:sp>
    </p:spTree>
    <p:extLst>
      <p:ext uri="{BB962C8B-B14F-4D97-AF65-F5344CB8AC3E}">
        <p14:creationId xmlns:p14="http://schemas.microsoft.com/office/powerpoint/2010/main" val="26792020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85</TotalTime>
  <Words>628</Words>
  <Application>Microsoft Office PowerPoint</Application>
  <PresentationFormat>Widescreen</PresentationFormat>
  <Paragraphs>48</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Century Gothic</vt:lpstr>
      <vt:lpstr>Symbol</vt:lpstr>
      <vt:lpstr>Times New Roman</vt:lpstr>
      <vt:lpstr>Wingdings 3</vt:lpstr>
      <vt:lpstr>Ion Boardroom</vt:lpstr>
      <vt:lpstr>RESUME SCREENING  BASED ON JOB DESCRIPTION USING PYTHON</vt:lpstr>
      <vt:lpstr>PRESENTATION OUTLINE</vt:lpstr>
      <vt:lpstr>INTRODUCTION</vt:lpstr>
      <vt:lpstr>WHY DO WE NEED RESUME SCREENING</vt:lpstr>
      <vt:lpstr>STATEMENT PROBLEM</vt:lpstr>
      <vt:lpstr>TOOLS AND SOFTWARE</vt:lpstr>
      <vt:lpstr>METHODOLOGY</vt:lpstr>
      <vt:lpstr>DIFFICULTIES FACED</vt:lpstr>
      <vt:lpstr>FUTURE PLAN</vt:lpstr>
      <vt:lpstr>LIMITATIONS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WALMART RECRUITING : TRIP TYPE CLASSIFICATION</dc:title>
  <dc:creator>HIMANSHI RANA</dc:creator>
  <cp:lastModifiedBy>Aishwarya Kamboj</cp:lastModifiedBy>
  <cp:revision>4</cp:revision>
  <dcterms:created xsi:type="dcterms:W3CDTF">2022-02-26T06:13:13Z</dcterms:created>
  <dcterms:modified xsi:type="dcterms:W3CDTF">2022-07-24T10:53:11Z</dcterms:modified>
</cp:coreProperties>
</file>